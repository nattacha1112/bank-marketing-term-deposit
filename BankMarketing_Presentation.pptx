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4" r:id="rId25"/>
    <p:sldId id="275" r:id="rId26"/>
    <p:sldId id="276" r:id="rId27"/>
    <p:sldId id="277" r:id="rId28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82296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1">
                <a:solidFill>
                  <a:srgbClr val="FFFFFF"/>
                </a:solidFill>
                <a:latin typeface="Tahoma"/>
              </a:rPr>
              <a:t>Bank Marketing</a:t>
            </a:r>
          </a:p>
          <a:p>
            <a:r>
              <a:rPr sz="2200">
                <a:solidFill>
                  <a:srgbClr val="CCCCCC"/>
                </a:solidFill>
                <a:latin typeface="Tahoma"/>
              </a:rPr>
              <a:t>พยากรณ์ลูกค้าที่จะฝากประจำ (Term Deposit) ด้วย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>
                <a:solidFill>
                  <a:srgbClr val="009E73"/>
                </a:solidFill>
                <a:latin typeface="Tahoma"/>
              </a:rPr>
              <a:t>โมเดล Classification ที่ออกแบบให้ไม่หลอกตัวเอง: ไม่มี data leakage, ไม่มี time leakage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ภาพรวมโปรเจกต์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เป้าหมาย และ แนวทางการทำงาน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E73"/>
                </a:solidFill>
                <a:latin typeface="Tahoma"/>
              </a:rPr>
              <a:t>เป้าหมาย</a:t>
            </a:r>
          </a:p>
          <a:p>
            <a:r>
              <a:rPr sz="1500">
                <a:solidFill>
                  <a:srgbClr val="333333"/>
                </a:solidFill>
                <a:latin typeface="Tahoma"/>
              </a:rPr>
              <a:t>สร้างโมเดลจำแนก (binary classification) ทำนายว่าลูกค้าคนไหนมีแนวโน้มจะ "ฝากประจำ" จากข้อมูลก่อน/ระหว่างแคมเปญการตลาดทางโทรศัพท์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3716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1.  สำรวจข้อมูล (EDA) + ตรวจสอบความไม่สมดุลของคลาส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2.  จัดการฟีเจอร์ที่มีปัญหา data leakage (duration)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3.  แบ่ง train/test แบบ time-based (ไม่สลับข้อมูล)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4.  เทียบ 6 โมเดล × 3 รูปแบบ cross-validation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5.  เลือกโมเดลที่ดีที่สุด → ประเมินบน test set จริง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6.  ปรับ decision threshold ตามเป้าหมายธุรกิจ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333333"/>
                </a:solidFill>
                <a:latin typeface="Tahoma"/>
              </a:rPr>
              <a:t>7.  ตีความโมเดล (feature importance) + สรุปข้อจำกัด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1. สำรวจข้อมูล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ข้อมูลเบื้องต้น และความไม่สมดุลของคลาส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45,211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แถวข้อมูล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17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คอลัมน์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ค่า NaN จริง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88.3%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deposit =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880360"/>
            <a:ext cx="192024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69F00"/>
                </a:solidFill>
                <a:latin typeface="Tahoma"/>
              </a:rPr>
              <a:t>11.7%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deposit =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6035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33333"/>
                </a:solidFill>
                <a:latin typeface="Tahoma"/>
              </a:rPr>
              <a:t>หลายคอลัมน์ใช้ "unknown" แทนค่าที่ไม่มี (ไม่ใช่ NaN):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poutcome  —  unknown = 81.7%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contact  —  unknown = 28.8%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education  —  unknown = 4.1%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job  —  unknown = 0.6%</a:t>
            </a:r>
          </a:p>
        </p:txBody>
      </p:sp>
      <p:pic>
        <p:nvPicPr>
          <p:cNvPr id="12" name="Picture 11" descr="cell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01000"/>
            <a:ext cx="4663440" cy="4553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3 / 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1. สำรวจข้อมูล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ข้อมูลเรียงตามเวลา + ปัญหา Data Leakage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ไม่มีคอลัมน์วันที่ตรง ๆ แต่ month/day ยืนยันว่าข้อมูลเรียงตามลำดับเวลาติดต่อจริง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เดือน "ลดลง" เมื่อไล่ตาม index แค่ 2 ครั้ง = ตรงกับจำนวนรอบปีของแคมเปญพอดี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–  → แถวบนสุด = เก่าสุด, แถวล่างสุด = ใหม่สุด (สำคัญมากสำหรับการแบ่ง train/test)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11064240" cy="301752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D55E00"/>
                </a:solidFill>
                <a:latin typeface="Tahoma"/>
              </a:rPr>
              <a:t>⚠ duration รั่วไหลข้อมูลจากอนาคต (data leakage)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duration = ความยาวการโทรครั้งล่าสุด — รู้ค่าได้ก็ต่อเมื่อ "โทรไปแล้ว" เท่านั้น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ถ้าเป้าหมายคือ "เลือกว่าจะโทรหาใครก่อนโทร" เราจะไม่มีค่านี้ล่วงหน้า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ทางแก้: ตัด duration ออกจากฟีเจอร์หลัก และทำการทดลองเสริม (Appendix B) เพื่อพิสูจน์ขนาดของ leakage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4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2-3. FEATURE ENGINEERING &amp;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แบ่ง Train / Test แบบ Time-based (ไม่สลับข้อมูล)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pdays == -1 (ไม่เคยติดต่อมาก่อน) → แยกเป็นฟีเจอร์ was_contacted_before แล้วแทนค่าด้วย 0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แบ่งข้อมูล 80:20 ตามตำแหน่งแถว (ไม่สุ่ม) เพราะข้อมูลเรียงตามเวลาจริง และ use case คือ "ใช้อดีตพยากรณ์อนาคต"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36,168 แถว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Train set — deposit=yes 6.7%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834640"/>
            <a:ext cx="3474720" cy="146304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E69F00"/>
                </a:solidFill>
                <a:latin typeface="Tahoma"/>
              </a:rPr>
              <a:t>9,043 แถว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set — deposit=yes 31.6%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834640"/>
            <a:ext cx="3566160" cy="1463040"/>
          </a:xfrm>
          <a:prstGeom prst="roundRect">
            <a:avLst/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500" b="1">
                <a:solidFill>
                  <a:srgbClr val="333333"/>
                </a:solidFill>
                <a:latin typeface="Tahoma"/>
              </a:rPr>
              <a:t>สัดส่วนคลาสเปลี่ยนไป 4-5 เท่า ระหว่าง train กับ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9E73"/>
                </a:solidFill>
                <a:latin typeface="Tahoma"/>
              </a:rPr>
              <a:t>ทำไมไม่ shuffle: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สุ่มสลับจะทำให้ตัวอย่างจาก "ช่วงเวลาเดียวกัน" หลุดไปอยู่ทั้ง train และ test → validation ดูดีเกินจริง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Use case จริง = ใช้แคมเปญที่ผ่านมา พยากรณ์แคมเปญถัดไป ซึ่งเป็น time-based โดยธรรมชาติ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5 /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4. หลักการโมเดล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Classification คืออะไร + Bias/Variance ของแต่ละโมเดล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453" y="1417320"/>
            <a:ext cx="9600613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262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72B2"/>
                </a:solidFill>
                <a:latin typeface="Tahoma"/>
              </a:rPr>
              <a:t>LogisticRegression</a:t>
            </a:r>
            <a:r>
              <a:rPr sz="1500">
                <a:solidFill>
                  <a:srgbClr val="333333"/>
                </a:solidFill>
                <a:latin typeface="Tahoma"/>
              </a:rPr>
              <a:t> = เส้นตรงเดียว (bias สูง, variance ต่ำ) → เสถียรข้ามช่วงเวลา</a:t>
            </a:r>
          </a:p>
          <a:p>
            <a:r>
              <a:rPr sz="1500" b="1">
                <a:solidFill>
                  <a:srgbClr val="009E73"/>
                </a:solidFill>
                <a:latin typeface="Tahoma"/>
              </a:rPr>
              <a:t>RandomForest / HistGradientBoosting</a:t>
            </a:r>
            <a:r>
              <a:rPr sz="1500">
                <a:solidFill>
                  <a:srgbClr val="333333"/>
                </a:solidFill>
                <a:latin typeface="Tahoma"/>
              </a:rPr>
              <a:t> = ขอบเขตซับซ้อน (bias ต่ำ, variance สูง) → เสี่ยง overfit ต่อช่วงเวลาที่เห็นตอน train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66666"/>
                </a:solidFill>
                <a:latin typeface="Tahoma"/>
              </a:rPr>
              <a:t>→ นี่คือเหตุผลที่โมเดล tree-based ร่วงแรงกว่า Logistic เมื่อเปลี่ยนจาก shuffle CV ไปเป็น time-based CV (สไลด์ถัดไป)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6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6. เปรียบเทียบโมเดล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6 โมเดล × 3 รูปแบบ Cross-Validation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1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417320"/>
            <a:ext cx="6858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333333"/>
                </a:solidFill>
                <a:latin typeface="Tahoma"/>
              </a:rPr>
              <a:t>คะแนนทุกโมเดลลดลงเมื่อ validation สมจริงขึ้น (shuffle → block CV → TimeSeriesSplit) — HistGradientBoosting ลดจาก 0.712 → 0.542 ขณะที่ LogisticRegression ลดน้อยกว่า (0.685 → 0.540) เพราะ capacity ต่ำกว่า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7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6. เปรียบเทียบโมเดล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รูปแบบ Cross-Validation ทั้ง 3 แบบ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รูปแบบ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ลักษณะ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StratifiedKFold(shuffle=True)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สุ่มสลับ สัดส่วนคลาสเท่ากันทุก 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เทียบความแรงของโมเดลแบบมาตรฐานทั่วไป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KFold(shuffle=False)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ไม่สุ่ม ตัดเป็นช่วงต่อเนื่องตามเวลา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ดูความเสถียรข้ามช่วงเวลา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TimeSeriesSplit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expanding window, train อดีต → test อนาคตเท่านั้น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สมจริงที่สุดสำหรับ deployment จริง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31920"/>
            <a:ext cx="11064240" cy="2286000"/>
          </a:xfrm>
          <a:prstGeom prst="roundRect">
            <a:avLst/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500" b="1">
                <a:solidFill>
                  <a:srgbClr val="333333"/>
                </a:solidFill>
                <a:latin typeface="Tahoma"/>
              </a:rPr>
              <a:t>Dummy (baseline) = 0.500 ทุก scheme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ใช้ยืนยันว่าโมเดลอื่นเรียนรู้อะไรจริง ไม่ใช่เรื่องบังเอิญ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Tahoma"/>
              </a:rPr>
              <a:t>▸ เลือกโมเดลสุดท้ายจาก TimeSeriesSplit เพราะเป็น scheme ที่สมจริงที่สุด ไม่ใช่จาก shuffle CV ที่ดูดีเกินจริง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8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ประเมินผลบน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โมเดลที่เลือก: HistGradientBoosting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0.680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72B2"/>
                </a:solidFill>
                <a:latin typeface="Tahoma"/>
              </a:rPr>
              <a:t>0.468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Test PR-AUC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2560320" cy="118872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D55E00"/>
                </a:solidFill>
                <a:latin typeface="Tahoma"/>
              </a:rPr>
              <a:t>8%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Recall (yes) @ threshold 0.5</a:t>
            </a:r>
          </a:p>
        </p:txBody>
      </p:sp>
      <p:pic>
        <p:nvPicPr>
          <p:cNvPr id="9" name="Picture 8" descr="cell2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89346"/>
            <a:ext cx="11064240" cy="3348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9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ปรับ DECISION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ปรับ Threshold เพื่อเพิ่ม Recall — แต่ยังใช้จริงไม่ได้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Threshold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Recall (yes)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Recall (no)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ผลลัพธ์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0.50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พลาดลูกค้าจริงเกือบหมด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0.038 (tuned, recall target 80%)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97%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โทรเกือบทุกคน ≈ ไม่กรองเลย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200400"/>
            <a:ext cx="11064240" cy="301752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/>
            <a:r>
              <a:rPr sz="1800" b="1">
                <a:solidFill>
                  <a:srgbClr val="D55E00"/>
                </a:solidFill>
                <a:latin typeface="Tahoma"/>
              </a:rPr>
              <a:t>⚠ สาเหตุ: Concept drift ของสัดส่วนคลาส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Validation set (ตัดจากท้าย train): deposit=yes แค่ 13.7%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Test set จริง (ช่วงเวลาถัดมา): deposit=yes สูงถึง 31.6%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threshold ที่ tune จาก validation ใช้ตรง ๆ กับอนาคตไม่ได้ เพราะสัดส่วนคลาสเปลี่ยนเร็วกว่าที่คิด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10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7. กลยุทธ์ธุรกิจ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Gains / Lift Curve: "โทร Top กี่% คุ้มที่สุด"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29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371600"/>
            <a:ext cx="5374640" cy="42062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09360" y="1463040"/>
          <a:ext cx="53035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โทร Top %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จับลูกค้าได้ (recall)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Lift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20%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32.7%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48.0%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50%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69.1%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1.4×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89.9%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Tahoma"/>
                        </a:rPr>
                        <a:t>1.1×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9360" y="49377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  <a:latin typeface="Tahoma"/>
              </a:rPr>
              <a:t>เลือกจุดตัดจากต้นทุนต่อการโทร (c) และมูลค่าลูกค้าที่ฝากจริง (v) หรือโควต้าการโทรที่มี — ไม่ใช่ threshold ตายตัว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11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Feature Importance: อะไรบ่งชี้ว่าใครจะฝากประจำ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3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3939"/>
            <a:ext cx="5852160" cy="41558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poutcome  —  </a:t>
            </a:r>
            <a:r>
              <a:rPr sz="1500">
                <a:solidFill>
                  <a:srgbClr val="333333"/>
                </a:solidFill>
                <a:latin typeface="Tahoma"/>
              </a:rPr>
              <a:t>ผลแคมเปญครั้งก่อน — สำคัญที่สุดแบบทิ้งห่าง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month  —  </a:t>
            </a:r>
            <a:r>
              <a:rPr sz="1500">
                <a:solidFill>
                  <a:srgbClr val="333333"/>
                </a:solidFill>
                <a:latin typeface="Tahoma"/>
              </a:rPr>
              <a:t>ฤดูกาล/จังหวะการติดต่อ — สำคัญอันดับ 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age / balance  —  </a:t>
            </a:r>
            <a:r>
              <a:rPr sz="1500">
                <a:solidFill>
                  <a:srgbClr val="333333"/>
                </a:solidFill>
                <a:latin typeface="Tahoma"/>
              </a:rPr>
              <a:t>ลักษณะการเงิน/ช่วงวัยลูกค้า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09E73"/>
                </a:solidFill>
                <a:latin typeface="Tahoma"/>
              </a:rPr>
              <a:t>อื่น ๆ  —  </a:t>
            </a:r>
            <a:r>
              <a:rPr sz="1500">
                <a:solidFill>
                  <a:srgbClr val="333333"/>
                </a:solidFill>
                <a:latin typeface="Tahoma"/>
              </a:rPr>
              <a:t>day, contact, marital ฯลฯ มีผลค่อนข้างน้อย</a:t>
            </a:r>
          </a:p>
          <a:p>
            <a:pPr>
              <a:spcBef>
                <a:spcPts val="1000"/>
              </a:spcBef>
            </a:pPr>
            <a:r>
              <a:rPr sz="1400" i="1">
                <a:solidFill>
                  <a:srgbClr val="666666"/>
                </a:solidFill>
                <a:latin typeface="Tahoma"/>
              </a:rPr>
              <a:t>นัยธุรกิจ: จัดลำดับติดต่อลูกค้า poutcome=success ก่อน แล้วเลือกจังหวะเดือนที่ปิดดีลได้ดีในอดีต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12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ทำไมไม่ควรสลับข้อมูล: Time-based vs Random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4114800" cy="201168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009E73"/>
                </a:solidFill>
                <a:latin typeface="Tahoma"/>
              </a:rPr>
              <a:t>0.680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Time-based split (no shuffle)
ROC-AUC จริงที่ใช้งานได้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011680"/>
            <a:ext cx="4114800" cy="2011680"/>
          </a:xfrm>
          <a:prstGeom prst="roundRect">
            <a:avLst>
              <a:gd name="adj" fmla="val 6000"/>
            </a:avLst>
          </a:prstGeom>
          <a:solidFill>
            <a:srgbClr val="F7F9F9"/>
          </a:solidFill>
          <a:ln w="1587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D55E00"/>
                </a:solidFill>
                <a:latin typeface="Tahoma"/>
              </a:rPr>
              <a:t>0.804</a:t>
            </a:r>
          </a:p>
          <a:p>
            <a:pPr algn="ctr"/>
            <a:r>
              <a:rPr sz="1300">
                <a:solidFill>
                  <a:srgbClr val="333333"/>
                </a:solidFill>
                <a:latin typeface="Tahoma"/>
              </a:rPr>
              <a:t>Random split (shuffle+stratify)
ดูดีเกินจริง (optimistic bias)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ส่วนต่าง 0.124 ROC-AUC มาจากการที่ random split ปล่อยให้ข้อมูล "อนาคต" รั่วเข้าไปใน train ผ่านตัวอย่างจากช่วงเวลาเดียวกัน — ถ้าใช้ตัวเลขนี้ตัดสินใจ deploy จริง จะคาดหวังผลเกินจริงไปมาก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13 /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ยืนยัน Data Leakage ของ duration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828800"/>
          <a:ext cx="9966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ชุดฟีเจอร์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Test ROC-AUC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ahoma"/>
                        </a:rPr>
                        <a:t>Test PR-AUC</a:t>
                      </a:r>
                    </a:p>
                  </a:txBody>
                  <a:tcPr>
                    <a:solidFill>
                      <a:srgbClr val="009E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ไม่มี duration (ใช้งานจริงได้)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0.468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มี duration (รู้ผลหลังโทรแล้ว)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0.787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333333"/>
                          </a:solidFill>
                          <a:latin typeface="Tahoma"/>
                        </a:rPr>
                        <a:t>0.557</a:t>
                      </a:r>
                    </a:p>
                  </a:txBody>
                  <a:tcPr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393192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เมื่อใส่ duration กลับเข้าไป ROC-AUC พุ่งขึ้น +0.107 — ยืนยันชัดเจนว่าเป็น leakage จริง และไม่ควรใช้กับโมเดลที่ต้อง "เลือกเป้าหมายก่อนโทร"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14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ทดลองเพิ่มเติม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ทดลองสัดส่วน Train:Test หลายแบบ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ell39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858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Tahoma"/>
              </a:rPr>
              <a:t>คู่ที่ดีที่สุด: LogisticRegression @ 80:20 — ROC-AUC 0.684, PR-AUC 0.488, F1 0.517 (ใกล้เคียง HistGradientBoosting และเสถียรกว่าในหลายสัดส่วน)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15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สรุปผลและหลักการสำคัญ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ข้อมูลไม่สมดุล (~12% deposit=yes) → ใช้ class_weight="balanced" และดู ROC-AUC/PR-AUC/F1 ไม่ใช่ accuracy อย่างเดียว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ตัด duration ออกเพราะรู้ค่าได้หลังโทรเท่านั้น (ยืนยัน leakage ใน Appendix B: +0.107 ROC-AUC ถ้าใส่กลับเข้าไป)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แบ่ง train/test แบบ time-based ไม่สลับข้อมูล (random split ให้ตัวเลขดูดีเกินจริงถึง +0.124 ROC-AUC)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เลือกโมเดลจาก TimeSeriesSplit (scheme สมจริงที่สุด) ไม่ใช่จาก shuffle CV ที่ overfit ต่อช่วงเวลา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3333"/>
                </a:solidFill>
                <a:latin typeface="Tahoma"/>
              </a:rPr>
              <a:t>▸ Threshold ที่ tune จาก validation ใช้ตรง ๆ กับอนาคตไม่ได้ เพราะสัดส่วนคลาสเปลี่ยนเร็ว (6.7% → 31.6%) ใช้ gains/lift + เหตุผลธุรกิจแทน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ข้อจำกัด &amp; แนวทางต่อยอด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สิ่งที่ควรรู้ก่อนใช้งานจริง และก้าวต่อไป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55E00"/>
                </a:solidFill>
                <a:latin typeface="Tahoma"/>
              </a:rPr>
              <a:t>ข้อจำกัด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Concept drift: สัดส่วนลูกค้าเปลี่ยนเร็วตามเวลา ต้อง retrain เป็นระยะ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ROC-AUC ~0.68 ยังไม่สูงมาก — เหมาะใช้จัดลำดับความสำคัญ ไม่ใช่ตัดสิน yes/no เด็ดขาด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Threshold คงที่ใช้กับอนาคตไม่ได้ ต้องอิงกราฟ gains/lift + บริบทธุรกิจทุกครั้ง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46304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9E73"/>
                </a:solidFill>
                <a:latin typeface="Tahoma"/>
              </a:rPr>
              <a:t>แนวทางต่อยอด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Calibration (CalibratedClassifierCV) ให้ predict_proba สะท้อนความน่าจะเป็นจริง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เพิ่มฟีเจอร์เชิงเวลา/เศรษฐกิจ เช่น อัตราดอกเบี้ยนโยบาย เพื่ออธิบาย drift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Sliding-window retraining แทนการ train ครั้งเดียวด้วยข้อมูลทั้งหมด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33333"/>
                </a:solidFill>
                <a:latin typeface="Tahoma"/>
              </a:rPr>
              <a:t>▸ Cost-sensitive threshold ผูกกับต้นทุนโทร (c) และมูลค่าลูกค้า (v) 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</a:rPr>
              <a:t>21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Bank Marketing — Term Deposit Prediction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Tahoma"/>
              </a:rPr>
              <a:t>ขอบคุณครับ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009E73"/>
                </a:solidFill>
                <a:latin typeface="Tahoma"/>
              </a:rPr>
              <a:t>Q&amp;A — Bank Marketing: Term Deposit Prediction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C —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Scaler: ปรับสเกลฟีเจอร์ตัวเลข เลือกแบบไหนดี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16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3826"/>
                <a:gridCol w="2458720"/>
                <a:gridCol w="3688079"/>
                <a:gridCol w="2663613"/>
              </a:tblGrid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Scaler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วิธีทำ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เหมาะกับข้อมูลแบบ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ข้อควรระวัง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StandardScaler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(x − mean) / std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กระจายใกล้ปกติ — ค่าเริ่มต้นที่ใช้บ่อยสุด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outlier ดึง mean/std เพี้ยน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MinMaxScaler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บีบเข้าช่วง [0, 1]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มีขอบเขตชัด เช่น %, pixel, Neural Net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ไวต่อ outlier มาก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RobustScaler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(x − median) / IQR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มี outlier เยอะ เช่น balance, campaign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ไม่บีบเข้าช่วงตายตัว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PowerTransformer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Yeo-Johnson / Box-Cox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ข้อมูลเบ้มาก (หางยาวข้างเดียว)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ตีความค่าหลังแปลงยากขึ้น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MaxAbsScaler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x / |x|max → [-1, 1]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sparse data (one-hot, TF-IDF)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ไวต่อ outlier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97680"/>
            <a:ext cx="11064240" cy="150876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ใครต้อง scale: Logistic, SVM, KNN, Neural Net, PCA — โมเดลต้นไม้ (RF, GBM) ไม่จำเป็น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fit scaler บน train เท่านั้น แล้วค่อย transform test — ใส่ใน Pipeline เพื่อกัน data leakage ทุก fold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โปรเจกต์นี้ใช้ StandardScaler; balance/campaign เบ้และมี outlier → ลอง RobustScaler หรือ PowerTransformer เพื่อช่วย Logistic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D —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Encoding: แปลงข้อมูลประเภท (categorical) เป็นตัวเลข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17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816351"/>
                <a:gridCol w="3218688"/>
                <a:gridCol w="2816351"/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วิธี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ทำอะไร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เหมาะกับ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ข้อควรระวัง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Label Encoding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แทนค่าด้วย 0, 1, 2, …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ตัว target (y) เช่น no→0, yes→1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ใช้กับฟีเจอร์ = ลำดับปลอม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Ordinal Encoding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เลขตามลำดับที่กำหนดเอง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หมวดที่มีลำดับจริง เช่น education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ต้องระบุลำดับเอง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One-Hot Encoding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1 คอลัมน์ 0/1 ต่อ 1 ค่า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nominal ค่าไม่มาก เช่น job, marital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ค่าเยอะ → คอลัมน์ระเบิด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Target Encoding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แทนด้วยค่าเฉลี่ย target ของหมวด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nominal ค่าเยอะมาก (หลักร้อย–พัน)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เสี่ยง leakage ต้อง cross-fit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Frequency / Hashing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แทนด้วยความถี่ / hash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ค่าเยอะมาก, มีค่าใหม่ตลอด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ค่าชนกัน ตีความยาก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Cyclical (sin/cos)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แปลงค่าวนรอบเป็นวงกลม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เดือน, วันในสัปดาห์, ชั่วโมง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ใช้กับค่าวนรอบเท่านั้น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80560"/>
            <a:ext cx="11064240" cy="150876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ถาม 2 ข้อก่อนเลือก: หมวดมีลำดับไหม (ordinal / nominal) และมีกี่ค่า (cardinality)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โมเดลเชิงเส้น/KNN/SVM: nominal ใช้ One-Hot  ·  โมเดลต้นไม้: Ordinal ก็มักพอ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โปรเจกต์นี้: categorical 9 ตัวมีค่าไม่มาก → One-Hot ทั้งหมด (handle_unknown="ignore"), เก็บ "unknown" เป็นหมวดหนึ่ง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E —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Confusion Matrix → Precision / Recall / F1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18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37360" y="1783080"/>
            <a:ext cx="1554480" cy="100584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TN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ทายถูกว่าไม่ฝาก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83080"/>
            <a:ext cx="1554480" cy="100584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FP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โทรเสียเปล่า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2880360"/>
            <a:ext cx="1554480" cy="100584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FN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พลาดลูกค้า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880360"/>
            <a:ext cx="1554480" cy="100584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Tahoma"/>
              </a:rPr>
              <a:t>TP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Tahoma"/>
              </a:rPr>
              <a:t>ทายถูกว่าฝาก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Tahoma"/>
              </a:rPr>
              <a:t>ทาย 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4173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Tahoma"/>
              </a:rPr>
              <a:t>ทาย 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Tahoma"/>
              </a:rPr>
              <a:t>จริง 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666666"/>
                </a:solidFill>
                <a:latin typeface="Tahoma"/>
              </a:rPr>
              <a:t>จริง 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  <a:latin typeface="Tahoma"/>
              </a:rPr>
              <a:t>Test set @ threshold 0.5: FN ≈ 2,600 จาก 2,856 คนที่ฝากจริง → recall (yes) แค่ 8%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577840" y="1417320"/>
          <a:ext cx="6035039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2112264"/>
                <a:gridCol w="2313431"/>
              </a:tblGrid>
              <a:tr h="40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ตัวชี้วัด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ตอบคำถาม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ahoma"/>
                        </a:rPr>
                        <a:t>เน้นเมื่อ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Precision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ทาย yes ถูกกี่ %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FP แพง (spam, โทรแพง)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Recall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yes จริงจับได้กี่ %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FN แพง (มะเร็ง, fraud)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F1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สมดุล P กับ R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ไม่สมดุล + สำคัญพอกัน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Accuracy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ทายถูกรวมกี่ %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ข้อมูลสมดุลเท่านั้น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Macro avg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เฉลี่ยทุกคลาสเท่ากัน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สนใจคลาสส่วนน้อย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33333"/>
                          </a:solidFill>
                          <a:latin typeface="Tahoma"/>
                        </a:rPr>
                        <a:t>Weighted avg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เฉลี่ยถ่วงตาม support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3333"/>
                          </a:solidFill>
                          <a:latin typeface="Tahoma"/>
                        </a:rPr>
                        <a:t>ภาพรวมตามสัดส่วนจริง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484632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ผลจริง: accuracy 0.69 ≈ ทาย "no" ทุกคน (0.68) — ตัวเลขนี้แทบไม่บอกอะไร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macro F1 0.48 &lt; weighted F1 0.60 = คลาส yes ทำได้แย่ แต่ถูกคลาส no กลบไว้ → ดู recall/F1 ของ yes และ PR-AUC แทน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9E73"/>
                </a:solidFill>
                <a:latin typeface="Tahoma"/>
              </a:rPr>
              <a:t>APPENDIX F —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333333"/>
                </a:solidFill>
                <a:latin typeface="Tahoma"/>
              </a:rPr>
              <a:t>ROC, PR Curve หรือ Confusion Matrix: ใช้อะไรเมื่อไหร่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1828800" cy="508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02975" y="64465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</a:rPr>
              <a:t>19 /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Bank Marketing — Term Deposit Prediction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7368"/>
                <a:gridCol w="2589502"/>
                <a:gridCol w="4237368"/>
              </a:tblGrid>
              <a:tr h="420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สถานการณ์ / ข้อมูล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ใช้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เพราะ</a:t>
                      </a:r>
                    </a:p>
                  </a:txBody>
                  <a:tcPr marT="45720" marB="45720" anchor="ctr">
                    <a:solidFill>
                      <a:srgbClr val="009E73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ยังไม่เลือก threshold, เทียบโมเดล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ROC-AUC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ดูทุก threshold, ไม่ขึ้นกับสเกลคะแนน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ไม่สมดุลมาก สนใจคลาสบวก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PR-AUC (คู่กับ ROC)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 ดูดีเกินจริงเพราะ TN เยอะ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สัดส่วนคลาสเปลี่ยนตามเวลา (6.7% → 31.6%)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ROC-AUC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ไม่ขึ้นกับ prevalence เทียบข้ามช่วงได้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เลือก threshold แล้ว จะ deploy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Confusion Matrix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เห็นจำนวนคนจริง แปลงเป็นต้นทุนได้</a:t>
                      </a:r>
                    </a:p>
                  </a:txBody>
                  <a:tcPr marT="45720" marB="45720" anchor="ctr">
                    <a:solidFill>
                      <a:srgbClr val="F7F9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33333"/>
                          </a:solidFill>
                          <a:latin typeface="Tahoma"/>
                        </a:rPr>
                        <a:t>โทรได้จำกัด N สาย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Gains / Lift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33333"/>
                          </a:solidFill>
                          <a:latin typeface="Tahoma"/>
                        </a:rPr>
                        <a:t>ตอบตรง ๆ ว่า top N% จับได้กี่ %</a:t>
                      </a:r>
                    </a:p>
                  </a:txBody>
                  <a:tcPr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1480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>
                <a:solidFill>
                  <a:srgbClr val="333333"/>
                </a:solidFill>
                <a:latin typeface="Tahoma"/>
              </a:rPr>
              <a:t>ROC-AUC = P(คะแนนลูกค้าที่ฝากจริง &gt; คะแนนลูกค้าที่ไม่ฝาก)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0.5 = เดาสุ่ม · 1.0 = แยกสมบูรณ์ (ถ้าเจอ ให้สงสัย leakage ก่อน) · Gini = 2·AUC − 1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ROC curve = TPR เทียบ FPR ทุก threshold — ยิ่งโค้งเข้ามุมซ้ายบนยิ่งดี; โมเดลนี้ AUC 0.68 = จัดอันดับดีกว่าสุ่ม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3333"/>
                </a:solidFill>
                <a:latin typeface="Tahoma"/>
              </a:rPr>
              <a:t>▸ ไม่วัด calibration และไม่คิดต้นทุน FP/FN → ต้องเลือก threshold ด้วยเหตุผลธุรกิจอีกชั้น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