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82296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1">
                <a:solidFill>
                  <a:srgbClr val="FFFFFF"/>
                </a:solidFill>
                <a:latin typeface="Tahoma"/>
              </a:rPr>
              <a:t>Bank Marketing</a:t>
            </a:r>
          </a:p>
          <a:p>
            <a:r>
              <a:rPr sz="2200">
                <a:solidFill>
                  <a:srgbClr val="CCCCCC"/>
                </a:solidFill>
                <a:latin typeface="Tahoma"/>
              </a:rPr>
              <a:t>พยากรณ์ลูกค้าที่จะฝากประจำ (Term Deposit) ด้วย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009E73"/>
                </a:solidFill>
                <a:latin typeface="Tahoma"/>
              </a:rPr>
              <a:t>โมเดล Classification ที่ออกแบบให้ไม่หลอกตัวเอง: ไม่มี data leakage, ไม่มี time leakage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E73"/>
                </a:solidFill>
                <a:latin typeface="Tahoma"/>
              </a:rPr>
              <a:t>ภาพรวมโปรเจกต์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Tahoma"/>
              </a:rPr>
              <a:t>เป้าหมาย และ แนวทางการทำงาน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9E73"/>
                </a:solidFill>
                <a:latin typeface="Tahoma"/>
              </a:rPr>
              <a:t>เป้าหมาย</a:t>
            </a:r>
          </a:p>
          <a:p>
            <a:r>
              <a:rPr sz="1500">
                <a:solidFill>
                  <a:srgbClr val="333333"/>
                </a:solidFill>
                <a:latin typeface="Tahoma"/>
              </a:rPr>
              <a:t>สร้างโมเดลจำแนก (binary classification) ทำนายว่าลูกค้าคนไหนมีแนวโน้มจะ "ฝากประจำ" จากข้อมูลก่อน/ระหว่างแคมเปญการตลาดทางโทรศัพท์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37160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333333"/>
                </a:solidFill>
                <a:latin typeface="Tahoma"/>
              </a:rPr>
              <a:t>1.  สำรวจข้อมูล (EDA) + ตรวจสอบความไม่สมดุลของคลาส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333333"/>
                </a:solidFill>
                <a:latin typeface="Tahoma"/>
              </a:rPr>
              <a:t>2.  จัดการฟีเจอร์ที่มีปัญหา data leakage (duration)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333333"/>
                </a:solidFill>
                <a:latin typeface="Tahoma"/>
              </a:rPr>
              <a:t>3.  แบ่ง train/test แบบ time-based (ไม่สลับข้อมูล)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333333"/>
                </a:solidFill>
                <a:latin typeface="Tahoma"/>
              </a:rPr>
              <a:t>4.  เทียบ 6 โมเดล × 3 รูปแบบ cross-validation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333333"/>
                </a:solidFill>
                <a:latin typeface="Tahoma"/>
              </a:rPr>
              <a:t>5.  เลือกโมเดลที่ดีที่สุด → ประเมินบน test set จริง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333333"/>
                </a:solidFill>
                <a:latin typeface="Tahoma"/>
              </a:rPr>
              <a:t>6.  ปรับ decision threshold ตามเป้าหมายธุรกิจ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333333"/>
                </a:solidFill>
                <a:latin typeface="Tahoma"/>
              </a:rPr>
              <a:t>7.  ตีความโมเดล (feature importance) + สรุปข้อจำกัด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</a:rPr>
              <a:t>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Bank Marketing — Term Deposit Prediction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E73"/>
                </a:solidFill>
                <a:latin typeface="Tahoma"/>
              </a:rPr>
              <a:t>1. สำรวจข้อมูล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Tahoma"/>
              </a:rPr>
              <a:t>ข้อมูลเบื้องต้น และความไม่สมดุลของคลาส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7F9F9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9E73"/>
                </a:solidFill>
                <a:latin typeface="Tahoma"/>
              </a:rPr>
              <a:t>45,211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Tahoma"/>
              </a:rPr>
              <a:t>แถวข้อมูล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55448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7F9F9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9E73"/>
                </a:solidFill>
                <a:latin typeface="Tahoma"/>
              </a:rPr>
              <a:t>17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Tahoma"/>
              </a:rPr>
              <a:t>คอลัมน์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55448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7F9F9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9E73"/>
                </a:solidFill>
                <a:latin typeface="Tahoma"/>
              </a:rPr>
              <a:t>0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Tahoma"/>
              </a:rPr>
              <a:t>ค่า NaN จริง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7F9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72B2"/>
                </a:solidFill>
                <a:latin typeface="Tahoma"/>
              </a:rPr>
              <a:t>88.3%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Tahoma"/>
              </a:rPr>
              <a:t>deposit = 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288036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7F9F9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E69F00"/>
                </a:solidFill>
                <a:latin typeface="Tahoma"/>
              </a:rPr>
              <a:t>11.7%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Tahoma"/>
              </a:rPr>
              <a:t>deposit = 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6035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Tahoma"/>
              </a:rPr>
              <a:t>หลายคอลัมน์ใช้ "unknown" แทนค่าที่ไม่มี (ไม่ใช่ NaN):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Tahoma"/>
              </a:rPr>
              <a:t>▸ poutcome  —  unknown = 81.7%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Tahoma"/>
              </a:rPr>
              <a:t>▸ contact  —  unknown = 28.8%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Tahoma"/>
              </a:rPr>
              <a:t>▸ education  —  unknown = 4.1%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Tahoma"/>
              </a:rPr>
              <a:t>▸ job  —  unknown = 0.6%</a:t>
            </a:r>
          </a:p>
        </p:txBody>
      </p:sp>
      <p:pic>
        <p:nvPicPr>
          <p:cNvPr id="12" name="Picture 11" descr="cell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01000"/>
            <a:ext cx="4663440" cy="4553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</a:rPr>
              <a:t>3 /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Bank Marketing — Term Deposit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E73"/>
                </a:solidFill>
                <a:latin typeface="Tahoma"/>
              </a:rPr>
              <a:t>1. สำรวจข้อมูล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Tahoma"/>
              </a:rPr>
              <a:t>ข้อมูลเรียงตามเวลา + ปัญหา Data Leakage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Tahoma"/>
              </a:rPr>
              <a:t>▸ ไม่มีคอลัมน์วันที่ตรง ๆ แต่ month/day ยืนยันว่าข้อมูลเรียงตามลำดับเวลาติดต่อจริง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Tahoma"/>
              </a:rPr>
              <a:t>▸ เดือน "ลดลง" เมื่อไล่ตาม index แค่ 2 ครั้ง = ตรงกับจำนวนรอบปีของแคมเปญพอดี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Tahoma"/>
              </a:rPr>
              <a:t>–  → แถวบนสุด = เก่าสุด, แถวล่างสุด = ใหม่สุด (สำคัญมากสำหรับการแบ่ง train/test)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11064240" cy="3017520"/>
          </a:xfrm>
          <a:prstGeom prst="roundRect">
            <a:avLst/>
          </a:prstGeom>
          <a:solidFill>
            <a:srgbClr val="FDF2E9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1800" b="1">
                <a:solidFill>
                  <a:srgbClr val="D55E00"/>
                </a:solidFill>
                <a:latin typeface="Tahoma"/>
              </a:rPr>
              <a:t>⚠ duration รั่วไหลข้อมูลจากอนาคต (data leakage)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Tahoma"/>
              </a:rPr>
              <a:t>▸ duration = ความยาวการโทรครั้งล่าสุด — รู้ค่าได้ก็ต่อเมื่อ "โทรไปแล้ว" เท่านั้น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Tahoma"/>
              </a:rPr>
              <a:t>▸ ถ้าเป้าหมายคือ "เลือกว่าจะโทรหาใครก่อนโทร" เราจะไม่มีค่านี้ล่วงหน้า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Tahoma"/>
              </a:rPr>
              <a:t>▸ ทางแก้: ตัด duration ออกจากฟีเจอร์หลัก และทำการทดลองเสริม (Appendix B) เพื่อพิสูจน์ขนาดของ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</a:rPr>
              <a:t>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Bank Marketing — Term Deposit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E73"/>
                </a:solidFill>
                <a:latin typeface="Tahoma"/>
              </a:rPr>
              <a:t>2-3. FEATURE ENGINEERING &amp;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Tahoma"/>
              </a:rPr>
              <a:t>แบ่ง Train / Test แบบ Time-based (ไม่สลับข้อมูล)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Tahoma"/>
              </a:rPr>
              <a:t>▸ pdays == -1 (ไม่เคยติดต่อมาก่อน) → แยกเป็นฟีเจอร์ was_contacted_before แล้วแทนค่าด้วย 0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Tahoma"/>
              </a:rPr>
              <a:t>▸ แบ่งข้อมูล 80:20 ตามตำแหน่งแถว (ไม่สุ่ม) เพราะข้อมูลเรียงตามเวลาจริง และ use case คือ "ใช้อดีตพยากรณ์อนาคต"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3474720" cy="1463040"/>
          </a:xfrm>
          <a:prstGeom prst="roundRect">
            <a:avLst>
              <a:gd name="adj" fmla="val 6000"/>
            </a:avLst>
          </a:prstGeom>
          <a:solidFill>
            <a:srgbClr val="F7F9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72B2"/>
                </a:solidFill>
                <a:latin typeface="Tahoma"/>
              </a:rPr>
              <a:t>36,168 แถว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Tahoma"/>
              </a:rPr>
              <a:t>Train set — deposit=yes 6.7%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834640"/>
            <a:ext cx="3474720" cy="1463040"/>
          </a:xfrm>
          <a:prstGeom prst="roundRect">
            <a:avLst>
              <a:gd name="adj" fmla="val 6000"/>
            </a:avLst>
          </a:prstGeom>
          <a:solidFill>
            <a:srgbClr val="F7F9F9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E69F00"/>
                </a:solidFill>
                <a:latin typeface="Tahoma"/>
              </a:rPr>
              <a:t>9,043 แถว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Tahoma"/>
              </a:rPr>
              <a:t>Test set — deposit=yes 31.6%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834640"/>
            <a:ext cx="3566160" cy="1463040"/>
          </a:xfrm>
          <a:prstGeom prst="roundRect">
            <a:avLst/>
          </a:prstGeom>
          <a:solidFill>
            <a:srgbClr val="F7F9F9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500" b="1">
                <a:solidFill>
                  <a:srgbClr val="333333"/>
                </a:solidFill>
                <a:latin typeface="Tahoma"/>
              </a:rPr>
              <a:t>สัดส่วนคลาสเปลี่ยนไป 4-5 เท่า ระหว่าง train กับ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9E73"/>
                </a:solidFill>
                <a:latin typeface="Tahoma"/>
              </a:rPr>
              <a:t>ทำไมไม่ shuffle: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Tahoma"/>
              </a:rPr>
              <a:t>▸ สุ่มสลับจะทำให้ตัวอย่างจาก "ช่วงเวลาเดียวกัน" หลุดไปอยู่ทั้ง train และ test → validation ดูดีเกินจริง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Tahoma"/>
              </a:rPr>
              <a:t>▸ Use case จริง = ใช้แคมเปญที่ผ่านมา พยากรณ์แคมเปญถัดไป ซึ่งเป็น time-based โดยธรรมชาติ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</a:rPr>
              <a:t>5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Bank Marketing — Term Deposit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E73"/>
                </a:solidFill>
                <a:latin typeface="Tahoma"/>
              </a:rPr>
              <a:t>4. หลักการโมเดล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Tahoma"/>
              </a:rPr>
              <a:t>Classification คืออะไร + Bias/Variance ของแต่ละโมเดล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453" y="1417320"/>
            <a:ext cx="9600613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52628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72B2"/>
                </a:solidFill>
                <a:latin typeface="Tahoma"/>
              </a:rPr>
              <a:t>LogisticRegression</a:t>
            </a:r>
            <a:r>
              <a:rPr sz="1500">
                <a:solidFill>
                  <a:srgbClr val="333333"/>
                </a:solidFill>
                <a:latin typeface="Tahoma"/>
              </a:rPr>
              <a:t> = เส้นตรงเดียว (bias สูง, variance ต่ำ) → เสถียรข้ามช่วงเวลา</a:t>
            </a:r>
          </a:p>
          <a:p>
            <a:r>
              <a:rPr sz="1500" b="1">
                <a:solidFill>
                  <a:srgbClr val="009E73"/>
                </a:solidFill>
                <a:latin typeface="Tahoma"/>
              </a:rPr>
              <a:t>RandomForest / HistGradientBoosting</a:t>
            </a:r>
            <a:r>
              <a:rPr sz="1500">
                <a:solidFill>
                  <a:srgbClr val="333333"/>
                </a:solidFill>
                <a:latin typeface="Tahoma"/>
              </a:rPr>
              <a:t> = ขอบเขตซับซ้อน (bias ต่ำ, variance สูง) → เสี่ยง overfit ต่อช่วงเวลาที่เห็นตอน train</a:t>
            </a:r>
          </a:p>
          <a:p>
            <a:pPr>
              <a:spcBef>
                <a:spcPts val="800"/>
              </a:spcBef>
            </a:pPr>
            <a:r>
              <a:rPr sz="1500" i="1">
                <a:solidFill>
                  <a:srgbClr val="666666"/>
                </a:solidFill>
                <a:latin typeface="Tahoma"/>
              </a:rPr>
              <a:t>→ นี่คือเหตุผลที่โมเดล tree-based ร่วงแรงกว่า Logistic เมื่อเปลี่ยนจาก shuffle CV ไปเป็น time-based CV (สไลด์ถัดไป)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</a:rPr>
              <a:t>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Bank Marketing — Term Deposit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E73"/>
                </a:solidFill>
                <a:latin typeface="Tahoma"/>
              </a:rPr>
              <a:t>6. เปรียบเทียบโมเดล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Tahoma"/>
              </a:rPr>
              <a:t>6 โมเดล × 3 รูปแบบ Cross-Validation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1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417320"/>
            <a:ext cx="68580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1663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333333"/>
                </a:solidFill>
                <a:latin typeface="Tahoma"/>
              </a:rPr>
              <a:t>คะแนนทุกโมเดลลดลงเมื่อ validation สมจริงขึ้น (shuffle → block CV → TimeSeriesSplit) — HistGradientBoosting ลดจาก 0.712 → 0.542 ขณะที่ LogisticRegression ลดน้อยกว่า (0.685 → 0.540) เพราะ capacity ต่ำกว่า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</a:rPr>
              <a:t>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Bank Marketing — Term Deposit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E73"/>
                </a:solidFill>
                <a:latin typeface="Tahoma"/>
              </a:rPr>
              <a:t>6. เปรียบเทียบโมเดล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Tahoma"/>
              </a:rPr>
              <a:t>รูปแบบ Cross-Validation ทั้ง 3 แบบ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ahoma"/>
                        </a:rPr>
                        <a:t>รูปแบบ</a:t>
                      </a:r>
                    </a:p>
                  </a:txBody>
                  <a:tcPr>
                    <a:solidFill>
                      <a:srgbClr val="009E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ahoma"/>
                        </a:rPr>
                        <a:t>ลักษณะ</a:t>
                      </a:r>
                    </a:p>
                  </a:txBody>
                  <a:tcPr>
                    <a:solidFill>
                      <a:srgbClr val="009E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ahoma"/>
                        </a:rPr>
                        <a:t>เหมาะกับ</a:t>
                      </a:r>
                    </a:p>
                  </a:txBody>
                  <a:tcPr>
                    <a:solidFill>
                      <a:srgbClr val="009E73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StratifiedKFold(shuffle=True)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สุ่มสลับ สัดส่วนคลาสเท่ากันทุก fold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เทียบความแรงของโมเดลแบบมาตรฐานทั่วไป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KFold(shuffle=False)</a:t>
                      </a:r>
                    </a:p>
                  </a:txBody>
                  <a:tcPr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ไม่สุ่ม ตัดเป็นช่วงต่อเนื่องตามเวลา</a:t>
                      </a:r>
                    </a:p>
                  </a:txBody>
                  <a:tcPr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ดูความเสถียรข้ามช่วงเวลา</a:t>
                      </a:r>
                    </a:p>
                  </a:txBody>
                  <a:tcPr>
                    <a:solidFill>
                      <a:srgbClr val="F7F9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TimeSeriesSplit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expanding window, train อดีต → test อนาคตเท่านั้น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สมจริงที่สุดสำหรับ deployment จริง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3931920"/>
            <a:ext cx="11064240" cy="2286000"/>
          </a:xfrm>
          <a:prstGeom prst="roundRect">
            <a:avLst/>
          </a:prstGeom>
          <a:solidFill>
            <a:srgbClr val="F7F9F9"/>
          </a:solidFill>
          <a:ln w="1270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/>
            <a:r>
              <a:rPr sz="1500" b="1">
                <a:solidFill>
                  <a:srgbClr val="333333"/>
                </a:solidFill>
                <a:latin typeface="Tahoma"/>
              </a:rPr>
              <a:t>Dummy (baseline) = 0.500 ทุก scheme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Tahoma"/>
              </a:rPr>
              <a:t>▸ ใช้ยืนยันว่าโมเดลอื่นเรียนรู้อะไรจริง ไม่ใช่เรื่องบังเอิญ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Tahoma"/>
              </a:rPr>
              <a:t>▸ เลือกโมเดลสุดท้ายจาก TimeSeriesSplit เพราะเป็น scheme ที่สมจริงที่สุด ไม่ใช่จาก shuffle CV ที่ดูดีเกินจริง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</a:rPr>
              <a:t>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Bank Marketing — Term Deposit Prediction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E73"/>
                </a:solidFill>
                <a:latin typeface="Tahoma"/>
              </a:rPr>
              <a:t>7. ประเมินผลบน TEST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Tahoma"/>
              </a:rPr>
              <a:t>โมเดลที่เลือก: HistGradientBoosting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560320" cy="1188720"/>
          </a:xfrm>
          <a:prstGeom prst="roundRect">
            <a:avLst>
              <a:gd name="adj" fmla="val 6000"/>
            </a:avLst>
          </a:prstGeom>
          <a:solidFill>
            <a:srgbClr val="F7F9F9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9E73"/>
                </a:solidFill>
                <a:latin typeface="Tahoma"/>
              </a:rPr>
              <a:t>0.680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Tahoma"/>
              </a:rPr>
              <a:t>Test ROC-AUC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463040"/>
            <a:ext cx="2560320" cy="1188720"/>
          </a:xfrm>
          <a:prstGeom prst="roundRect">
            <a:avLst>
              <a:gd name="adj" fmla="val 6000"/>
            </a:avLst>
          </a:prstGeom>
          <a:solidFill>
            <a:srgbClr val="F7F9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72B2"/>
                </a:solidFill>
                <a:latin typeface="Tahoma"/>
              </a:rPr>
              <a:t>0.468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Tahoma"/>
              </a:rPr>
              <a:t>Test PR-AUC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2560320" cy="1188720"/>
          </a:xfrm>
          <a:prstGeom prst="roundRect">
            <a:avLst>
              <a:gd name="adj" fmla="val 6000"/>
            </a:avLst>
          </a:prstGeom>
          <a:solidFill>
            <a:srgbClr val="F7F9F9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D55E00"/>
                </a:solidFill>
                <a:latin typeface="Tahoma"/>
              </a:rPr>
              <a:t>8%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Tahoma"/>
              </a:rPr>
              <a:t>Recall (yes) @ threshold 0.5</a:t>
            </a:r>
          </a:p>
        </p:txBody>
      </p:sp>
      <p:pic>
        <p:nvPicPr>
          <p:cNvPr id="9" name="Picture 8" descr="cell2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89346"/>
            <a:ext cx="11064240" cy="33481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</a:rPr>
              <a:t>9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Bank Marketing — Term Deposit 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E73"/>
                </a:solidFill>
                <a:latin typeface="Tahoma"/>
              </a:rPr>
              <a:t>7. ปรับ DECISION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Tahoma"/>
              </a:rPr>
              <a:t>ปรับ Threshold เพื่อเพิ่ม Recall — แต่ยังใช้จริงไม่ได้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ahoma"/>
                        </a:rPr>
                        <a:t>Threshold</a:t>
                      </a:r>
                    </a:p>
                  </a:txBody>
                  <a:tcPr>
                    <a:solidFill>
                      <a:srgbClr val="009E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ahoma"/>
                        </a:rPr>
                        <a:t>Recall (yes)</a:t>
                      </a:r>
                    </a:p>
                  </a:txBody>
                  <a:tcPr>
                    <a:solidFill>
                      <a:srgbClr val="009E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ahoma"/>
                        </a:rPr>
                        <a:t>Recall (no)</a:t>
                      </a:r>
                    </a:p>
                  </a:txBody>
                  <a:tcPr>
                    <a:solidFill>
                      <a:srgbClr val="009E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ahoma"/>
                        </a:rPr>
                        <a:t>ผลลัพธ์</a:t>
                      </a:r>
                    </a:p>
                  </a:txBody>
                  <a:tcPr>
                    <a:solidFill>
                      <a:srgbClr val="009E7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0.50 (default)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พลาดลูกค้าจริงเกือบหมด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0.038 (tuned, recall target 80%)</a:t>
                      </a:r>
                    </a:p>
                  </a:txBody>
                  <a:tcPr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97%</a:t>
                      </a:r>
                    </a:p>
                  </a:txBody>
                  <a:tcPr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8%</a:t>
                      </a:r>
                    </a:p>
                  </a:txBody>
                  <a:tcPr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โทรเกือบทุกคน ≈ ไม่กรองเลย</a:t>
                      </a:r>
                    </a:p>
                  </a:txBody>
                  <a:tcPr>
                    <a:solidFill>
                      <a:srgbClr val="F7F9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3200400"/>
            <a:ext cx="11064240" cy="3017520"/>
          </a:xfrm>
          <a:prstGeom prst="roundRect">
            <a:avLst/>
          </a:prstGeom>
          <a:solidFill>
            <a:srgbClr val="FDF2E9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1800" b="1">
                <a:solidFill>
                  <a:srgbClr val="D55E00"/>
                </a:solidFill>
                <a:latin typeface="Tahoma"/>
              </a:rPr>
              <a:t>⚠ สาเหตุ: Concept drift ของสัดส่วนคลาส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Tahoma"/>
              </a:rPr>
              <a:t>▸ Validation set (ตัดจากท้าย train): deposit=yes แค่ 13.7%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Tahoma"/>
              </a:rPr>
              <a:t>▸ Test set จริง (ช่วงเวลาถัดมา): deposit=yes สูงถึง 31.6%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Tahoma"/>
              </a:rPr>
              <a:t>▸ threshold ที่ tune จาก validation ใช้ตรง ๆ กับอนาคตไม่ได้ เพราะสัดส่วนคลาสเปลี่ยนเร็วกว่าที่คิด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</a:rPr>
              <a:t>10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Bank Marketing — Term Deposit Prediction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E73"/>
                </a:solidFill>
                <a:latin typeface="Tahoma"/>
              </a:rPr>
              <a:t>7. กลยุทธ์ธุรกิจ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Tahoma"/>
              </a:rPr>
              <a:t>Gains / Lift Curve: "โทร Top กี่% คุ้มที่สุด"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2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0" y="1371600"/>
            <a:ext cx="5374640" cy="42062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463040"/>
          <a:ext cx="5303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ahoma"/>
                        </a:rPr>
                        <a:t>โทร Top %</a:t>
                      </a:r>
                    </a:p>
                  </a:txBody>
                  <a:tcPr>
                    <a:solidFill>
                      <a:srgbClr val="009E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ahoma"/>
                        </a:rPr>
                        <a:t>จับลูกค้าได้ (recall)</a:t>
                      </a:r>
                    </a:p>
                  </a:txBody>
                  <a:tcPr>
                    <a:solidFill>
                      <a:srgbClr val="009E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ahoma"/>
                        </a:rPr>
                        <a:t>Lift</a:t>
                      </a:r>
                    </a:p>
                  </a:txBody>
                  <a:tcPr>
                    <a:solidFill>
                      <a:srgbClr val="009E7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16.3%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1.6×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20%</a:t>
                      </a:r>
                    </a:p>
                  </a:txBody>
                  <a:tcPr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32.7%</a:t>
                      </a:r>
                    </a:p>
                  </a:txBody>
                  <a:tcPr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1.6×</a:t>
                      </a:r>
                    </a:p>
                  </a:txBody>
                  <a:tcPr>
                    <a:solidFill>
                      <a:srgbClr val="F7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48.0%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1.6×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50%</a:t>
                      </a:r>
                    </a:p>
                  </a:txBody>
                  <a:tcPr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69.1%</a:t>
                      </a:r>
                    </a:p>
                  </a:txBody>
                  <a:tcPr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1.4×</a:t>
                      </a:r>
                    </a:p>
                  </a:txBody>
                  <a:tcPr>
                    <a:solidFill>
                      <a:srgbClr val="F7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89.9%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Tahoma"/>
                        </a:rPr>
                        <a:t>1.1×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493776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666666"/>
                </a:solidFill>
                <a:latin typeface="Tahoma"/>
              </a:rPr>
              <a:t>เลือกจุดตัดจากต้นทุนต่อการโทร (c) และมูลค่าลูกค้าที่ฝากจริง (v) หรือโควต้าการโทรที่มี — ไม่ใช่ threshold ตายตัว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</a:rPr>
              <a:t>11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Bank Marketing — Term Deposit Prediction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E73"/>
                </a:solidFill>
                <a:latin typeface="Tahoma"/>
              </a:rPr>
              <a:t>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Tahoma"/>
              </a:rPr>
              <a:t>Feature Importance: อะไรบ่งชี้ว่าใครจะฝากประจำ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3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3939"/>
            <a:ext cx="5852160" cy="41558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9E73"/>
                </a:solidFill>
                <a:latin typeface="Tahoma"/>
              </a:rPr>
              <a:t>poutcome  —  </a:t>
            </a:r>
            <a:r>
              <a:rPr sz="1500">
                <a:solidFill>
                  <a:srgbClr val="333333"/>
                </a:solidFill>
                <a:latin typeface="Tahoma"/>
              </a:rPr>
              <a:t>ผลแคมเปญครั้งก่อน — สำคัญที่สุดแบบทิ้งห่าง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9E73"/>
                </a:solidFill>
                <a:latin typeface="Tahoma"/>
              </a:rPr>
              <a:t>month  —  </a:t>
            </a:r>
            <a:r>
              <a:rPr sz="1500">
                <a:solidFill>
                  <a:srgbClr val="333333"/>
                </a:solidFill>
                <a:latin typeface="Tahoma"/>
              </a:rPr>
              <a:t>ฤดูกาล/จังหวะการติดต่อ — สำคัญอันดับ 2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9E73"/>
                </a:solidFill>
                <a:latin typeface="Tahoma"/>
              </a:rPr>
              <a:t>age / balance  —  </a:t>
            </a:r>
            <a:r>
              <a:rPr sz="1500">
                <a:solidFill>
                  <a:srgbClr val="333333"/>
                </a:solidFill>
                <a:latin typeface="Tahoma"/>
              </a:rPr>
              <a:t>ลักษณะการเงิน/ช่วงวัยลูกค้า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9E73"/>
                </a:solidFill>
                <a:latin typeface="Tahoma"/>
              </a:rPr>
              <a:t>อื่น ๆ  —  </a:t>
            </a:r>
            <a:r>
              <a:rPr sz="1500">
                <a:solidFill>
                  <a:srgbClr val="333333"/>
                </a:solidFill>
                <a:latin typeface="Tahoma"/>
              </a:rPr>
              <a:t>day, contact, marital ฯลฯ มีผลค่อนข้างน้อย</a:t>
            </a:r>
          </a:p>
          <a:p>
            <a:pPr>
              <a:spcBef>
                <a:spcPts val="1000"/>
              </a:spcBef>
            </a:pPr>
            <a:r>
              <a:rPr sz="1400" i="1">
                <a:solidFill>
                  <a:srgbClr val="666666"/>
                </a:solidFill>
                <a:latin typeface="Tahoma"/>
              </a:rPr>
              <a:t>นัยธุรกิจ: จัดลำดับติดต่อลูกค้า poutcome=success ก่อน แล้วเลือกจังหวะเดือนที่ปิดดีลได้ดีในอดีต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</a:rPr>
              <a:t>12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Bank Marketing — Term Deposit Prediction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E73"/>
                </a:solidFill>
                <a:latin typeface="Tahoma"/>
              </a:rPr>
              <a:t>APPENDIX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Tahoma"/>
              </a:rPr>
              <a:t>ทำไมไม่ควรสลับข้อมูล: Time-based vs Random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011680"/>
            <a:ext cx="4114800" cy="2011680"/>
          </a:xfrm>
          <a:prstGeom prst="roundRect">
            <a:avLst>
              <a:gd name="adj" fmla="val 6000"/>
            </a:avLst>
          </a:prstGeom>
          <a:solidFill>
            <a:srgbClr val="F7F9F9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9E73"/>
                </a:solidFill>
                <a:latin typeface="Tahoma"/>
              </a:rPr>
              <a:t>0.680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Tahoma"/>
              </a:rPr>
              <a:t>Time-based split (no shuffle)
ROC-AUC จริงที่ใช้งานได้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011680"/>
            <a:ext cx="4114800" cy="2011680"/>
          </a:xfrm>
          <a:prstGeom prst="roundRect">
            <a:avLst>
              <a:gd name="adj" fmla="val 6000"/>
            </a:avLst>
          </a:prstGeom>
          <a:solidFill>
            <a:srgbClr val="F7F9F9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D55E00"/>
                </a:solidFill>
                <a:latin typeface="Tahoma"/>
              </a:rPr>
              <a:t>0.804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Tahoma"/>
              </a:rPr>
              <a:t>Random split (shuffle+stratify)
ดูดีเกินจริง (optimistic bias)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Tahoma"/>
              </a:rPr>
              <a:t>ส่วนต่าง 0.124 ROC-AUC มาจากการที่ random split ปล่อยให้ข้อมูล "อนาคต" รั่วเข้าไปใน train ผ่านตัวอย่างจากช่วงเวลาเดียวกัน — ถ้าใช้ตัวเลขนี้ตัดสินใจ deploy จริง จะคาดหวังผลเกินจริงไปมาก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</a:rPr>
              <a:t>13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Bank Marketing — Term Deposit Prediction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E73"/>
                </a:solidFill>
                <a:latin typeface="Tahoma"/>
              </a:rPr>
              <a:t>APPENDIX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Tahoma"/>
              </a:rPr>
              <a:t>ยืนยัน Data Leakage ของ duration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828800"/>
          <a:ext cx="9966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/>
                <a:gridCol w="3322320"/>
                <a:gridCol w="332232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ahoma"/>
                        </a:rPr>
                        <a:t>ชุดฟีเจอร์</a:t>
                      </a:r>
                    </a:p>
                  </a:txBody>
                  <a:tcPr>
                    <a:solidFill>
                      <a:srgbClr val="009E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ahoma"/>
                        </a:rPr>
                        <a:t>Test ROC-AUC</a:t>
                      </a:r>
                    </a:p>
                  </a:txBody>
                  <a:tcPr>
                    <a:solidFill>
                      <a:srgbClr val="009E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ahoma"/>
                        </a:rPr>
                        <a:t>Test PR-AUC</a:t>
                      </a:r>
                    </a:p>
                  </a:txBody>
                  <a:tcPr>
                    <a:solidFill>
                      <a:srgbClr val="009E7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33333"/>
                          </a:solidFill>
                          <a:latin typeface="Tahoma"/>
                        </a:rPr>
                        <a:t>ไม่มี duration (ใช้งานจริงได้)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33333"/>
                          </a:solidFill>
                          <a:latin typeface="Tahoma"/>
                        </a:rPr>
                        <a:t>0.680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33333"/>
                          </a:solidFill>
                          <a:latin typeface="Tahoma"/>
                        </a:rPr>
                        <a:t>0.468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33333"/>
                          </a:solidFill>
                          <a:latin typeface="Tahoma"/>
                        </a:rPr>
                        <a:t>มี duration (รู้ผลหลังโทรแล้ว)</a:t>
                      </a:r>
                    </a:p>
                  </a:txBody>
                  <a:tcPr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33333"/>
                          </a:solidFill>
                          <a:latin typeface="Tahoma"/>
                        </a:rPr>
                        <a:t>0.787</a:t>
                      </a:r>
                    </a:p>
                  </a:txBody>
                  <a:tcPr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33333"/>
                          </a:solidFill>
                          <a:latin typeface="Tahoma"/>
                        </a:rPr>
                        <a:t>0.557</a:t>
                      </a:r>
                    </a:p>
                  </a:txBody>
                  <a:tcPr>
                    <a:solidFill>
                      <a:srgbClr val="F7F9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" y="393192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Tahoma"/>
              </a:rPr>
              <a:t>เมื่อใส่ duration กลับเข้าไป ROC-AUC พุ่งขึ้น +0.107 — ยืนยันชัดเจนว่าเป็น leakage จริง และไม่ควรใช้กับโมเดลที่ต้อง "เลือกเป้าหมายก่อนโทร"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</a:rP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Bank Marketing — Term Deposit Prediction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E73"/>
                </a:solidFill>
                <a:latin typeface="Tahoma"/>
              </a:rPr>
              <a:t>ทดลองเพิ่มเติม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Tahoma"/>
              </a:rPr>
              <a:t>ทดลองสัดส่วน Train:Test หลายแบบ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3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371600"/>
            <a:ext cx="68580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Tahoma"/>
              </a:rPr>
              <a:t>คู่ที่ดีที่สุด: LogisticRegression @ 80:20 — ROC-AUC 0.684, PR-AUC 0.488, F1 0.517 (ใกล้เคียง HistGradientBoosting และเสถียรกว่าในหลายสัดส่วน)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</a:rPr>
              <a:t>15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Bank Marketing — Term Deposit Prediction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E73"/>
                </a:solidFill>
                <a:latin typeface="Tahoma"/>
              </a:rPr>
              <a:t>สรุป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Tahoma"/>
              </a:rPr>
              <a:t>สรุปผลและหลักการสำคัญ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333333"/>
                </a:solidFill>
                <a:latin typeface="Tahoma"/>
              </a:rPr>
              <a:t>▸ ข้อมูลไม่สมดุล (~12% deposit=yes) → ใช้ class_weight="balanced" และดู ROC-AUC/PR-AUC/F1 ไม่ใช่ accuracy อย่างเดียว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333333"/>
                </a:solidFill>
                <a:latin typeface="Tahoma"/>
              </a:rPr>
              <a:t>▸ ตัด duration ออกเพราะรู้ค่าได้หลังโทรเท่านั้น (ยืนยัน leakage ใน Appendix B: +0.107 ROC-AUC ถ้าใส่กลับเข้าไป)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333333"/>
                </a:solidFill>
                <a:latin typeface="Tahoma"/>
              </a:rPr>
              <a:t>▸ แบ่ง train/test แบบ time-based ไม่สลับข้อมูล (random split ให้ตัวเลขดูดีเกินจริงถึง +0.124 ROC-AUC)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333333"/>
                </a:solidFill>
                <a:latin typeface="Tahoma"/>
              </a:rPr>
              <a:t>▸ เลือกโมเดลจาก TimeSeriesSplit (scheme สมจริงที่สุด) ไม่ใช่จาก shuffle CV ที่ overfit ต่อช่วงเวลา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333333"/>
                </a:solidFill>
                <a:latin typeface="Tahoma"/>
              </a:rPr>
              <a:t>▸ Threshold ที่ tune จาก validation ใช้ตรง ๆ กับอนาคตไม่ได้ เพราะสัดส่วนคลาสเปลี่ยนเร็ว (6.7% → 31.6%) ใช้ gains/lift + เหตุผลธุรกิจแทน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</a:rPr>
              <a:t>16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Bank Marketing — Term Deposit Prediction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E73"/>
                </a:solidFill>
                <a:latin typeface="Tahoma"/>
              </a:rPr>
              <a:t>ข้อจำกัด &amp; แนวทางต่อยอด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Tahoma"/>
              </a:rPr>
              <a:t>สิ่งที่ควรรู้ก่อนใช้งานจริง และก้าวต่อไป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D55E00"/>
                </a:solidFill>
                <a:latin typeface="Tahoma"/>
              </a:rPr>
              <a:t>ข้อจำกัด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Tahoma"/>
              </a:rPr>
              <a:t>▸ Concept drift: สัดส่วนลูกค้าเปลี่ยนเร็วตามเวลา ต้อง retrain เป็นระยะ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Tahoma"/>
              </a:rPr>
              <a:t>▸ ROC-AUC ~0.68 ยังไม่สูงมาก — เหมาะใช้จัดลำดับความสำคัญ ไม่ใช่ตัดสิน yes/no เด็ดขาด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Tahoma"/>
              </a:rPr>
              <a:t>▸ Threshold คงที่ใช้กับอนาคตไม่ได้ ต้องอิงกราฟ gains/lift + บริบทธุรกิจทุกครั้ง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9E73"/>
                </a:solidFill>
                <a:latin typeface="Tahoma"/>
              </a:rPr>
              <a:t>แนวทางต่อยอด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Tahoma"/>
              </a:rPr>
              <a:t>▸ Calibration (CalibratedClassifierCV) ให้ predict_proba สะท้อนความน่าจะเป็นจริง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Tahoma"/>
              </a:rPr>
              <a:t>▸ เพิ่มฟีเจอร์เชิงเวลา/เศรษฐกิจ เช่น อัตราดอกเบี้ยนโยบาย เพื่ออธิบาย drift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Tahoma"/>
              </a:rPr>
              <a:t>▸ Sliding-window retraining แทนการ train ครั้งเดียวด้วยข้อมูลทั้งหมด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Tahoma"/>
              </a:rPr>
              <a:t>▸ Cost-sensitive threshold ผูกกับต้นทุนโทร (c) และมูลค่าลูกค้า (v) จริง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</a:rPr>
              <a:t>17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Bank Marketing — Term Deposit Prediction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Tahoma"/>
              </a:rPr>
              <a:t>ขอบคุณครับ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9E73"/>
                </a:solidFill>
                <a:latin typeface="Tahoma"/>
              </a:rPr>
              <a:t>Q&amp;A — Bank Marketing: Term Deposit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