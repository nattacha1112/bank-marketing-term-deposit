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78" r:id="rId29"/>
    <p:sldId id="267" r:id="rId18"/>
    <p:sldId id="268" r:id="rId19"/>
    <p:sldId id="269" r:id="rId20"/>
    <p:sldId id="270" r:id="rId21"/>
    <p:sldId id="274" r:id="rId25"/>
    <p:sldId id="275" r:id="rId26"/>
    <p:sldId id="276" r:id="rId27"/>
    <p:sldId id="277" r:id="rId28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333333"/>
                </a:solidFill>
                <a:latin typeface="Tahoma"/>
              </a:rPr>
              <a:t>อัตราฝากของกลุ่มที่โทรเพิ่มทีละ 10% (top → bottom)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อัตราฝาก (%)</c:v>
                </c:pt>
              </c:strCache>
            </c:strRef>
          </c:tx>
          <c:spPr>
            <a:solidFill>
              <a:srgbClr val="009E73"/>
            </a:solidFill>
          </c:spPr>
          <c:dPt>
            <c:idx val="3"/>
            <c:spPr>
              <a:solidFill>
                <a:srgbClr val="9ED9C6"/>
              </a:solidFill>
            </c:spPr>
          </c:dPt>
          <c:dPt>
            <c:idx val="4"/>
            <c:spPr>
              <a:solidFill>
                <a:srgbClr val="9ED9C6"/>
              </a:solidFill>
            </c:spPr>
          </c:dPt>
          <c:dPt>
            <c:idx val="5"/>
            <c:spPr>
              <a:solidFill>
                <a:srgbClr val="9ED9C6"/>
              </a:solidFill>
            </c:spPr>
          </c:dPt>
          <c:dPt>
            <c:idx val="6"/>
            <c:spPr>
              <a:solidFill>
                <a:srgbClr val="9ED9C6"/>
              </a:solidFill>
            </c:spPr>
          </c:dPt>
          <c:dPt>
            <c:idx val="7"/>
            <c:spPr>
              <a:solidFill>
                <a:srgbClr val="9ED9C6"/>
              </a:solidFill>
            </c:spPr>
          </c:dPt>
          <c:dPt>
            <c:idx val="8"/>
            <c:spPr>
              <a:solidFill>
                <a:srgbClr val="9ED9C6"/>
              </a:solidFill>
            </c:spPr>
          </c:dPt>
          <c:dPt>
            <c:idx val="9"/>
            <c:spPr>
              <a:solidFill>
                <a:srgbClr val="9ED9C6"/>
              </a:solidFill>
            </c:spPr>
          </c:dPt>
          <c:cat>
            <c:strRef>
              <c:f>Sheet1!$A$2:$A$11</c:f>
              <c:strCache>
                <c:ptCount val="10"/>
                <c:pt idx="0">
                  <c:v>0-10</c:v>
                </c:pt>
                <c:pt idx="1">
                  <c:v>10-20</c:v>
                </c:pt>
                <c:pt idx="2">
                  <c:v>20-30</c:v>
                </c:pt>
                <c:pt idx="3">
                  <c:v>30-40</c:v>
                </c:pt>
                <c:pt idx="4">
                  <c:v>40-50</c:v>
                </c:pt>
                <c:pt idx="5">
                  <c:v>50-60</c:v>
                </c:pt>
                <c:pt idx="6">
                  <c:v>60-70</c:v>
                </c:pt>
                <c:pt idx="7">
                  <c:v>70-80</c:v>
                </c:pt>
                <c:pt idx="8">
                  <c:v>80-90</c:v>
                </c:pt>
                <c:pt idx="9">
                  <c:v>90-100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51.492</c:v>
                </c:pt>
                <c:pt idx="1">
                  <c:v>51.881</c:v>
                </c:pt>
                <c:pt idx="2">
                  <c:v>48.119</c:v>
                </c:pt>
                <c:pt idx="3">
                  <c:v>36.575</c:v>
                </c:pt>
                <c:pt idx="4">
                  <c:v>30.088</c:v>
                </c:pt>
                <c:pt idx="5">
                  <c:v>24.115</c:v>
                </c:pt>
                <c:pt idx="6">
                  <c:v>22.541</c:v>
                </c:pt>
                <c:pt idx="7">
                  <c:v>19.027</c:v>
                </c:pt>
                <c:pt idx="8">
                  <c:v>18.473</c:v>
                </c:pt>
                <c:pt idx="9">
                  <c:v>13.496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000">
                  <a:solidFill>
                    <a:srgbClr val="333333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666666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.0"/>
          <c:min val="0.0"/>
        </c:scaling>
        <c:delete val="0"/>
        <c:axPos val="l"/>
        <c:majorGridlines>
          <c:spPr>
            <a:ln>
              <a:solidFill>
                <a:srgbClr val="E5E5E5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82296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000" b="1">
                <a:solidFill>
                  <a:srgbClr val="FFFFFF"/>
                </a:solidFill>
                <a:latin typeface="Tahoma"/>
              </a:rPr>
              <a:t>Bank Marketing</a:t>
            </a:r>
          </a:p>
          <a:p>
            <a:r>
              <a:rPr sz="2200">
                <a:solidFill>
                  <a:srgbClr val="CCCCCC"/>
                </a:solidFill>
                <a:latin typeface="Tahoma"/>
              </a:rPr>
              <a:t>พยากรณ์ลูกค้าที่จะฝากประจำ (Term Deposit) ด้วย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70916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i="1">
                <a:solidFill>
                  <a:srgbClr val="009E73"/>
                </a:solidFill>
                <a:latin typeface="Tahoma"/>
              </a:rPr>
              <a:t>โมเดล Classification ที่ออกแบบให้ไม่หลอกตัวเอง: ไม่มี data leakage, ไม่มี time leakage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9E73"/>
                </a:solidFill>
                <a:latin typeface="Tahoma"/>
              </a:rPr>
              <a:t>ภาพรวมโปรเจกต์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Tahoma"/>
              </a:rPr>
              <a:t>เป้าหมาย และ แนวทางการทำงาน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1828800" cy="508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09E73"/>
                </a:solidFill>
                <a:latin typeface="Tahoma"/>
              </a:rPr>
              <a:t>เป้าหมาย</a:t>
            </a:r>
          </a:p>
          <a:p>
            <a:r>
              <a:rPr sz="1500">
                <a:solidFill>
                  <a:srgbClr val="333333"/>
                </a:solidFill>
                <a:latin typeface="Tahoma"/>
              </a:rPr>
              <a:t>สร้างโมเดลจำแนก (binary classification) ทำนายว่าลูกค้าคนไหนมีแนวโน้มจะ "ฝากประจำ" จากข้อมูลก่อน/ระหว่างแคมเปญการตลาดทางโทรศัพท์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371600"/>
            <a:ext cx="55778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333333"/>
                </a:solidFill>
                <a:latin typeface="Tahoma"/>
              </a:rPr>
              <a:t>1.  สำรวจข้อมูล (EDA) + ตรวจสอบความไม่สมดุลของคลาส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333333"/>
                </a:solidFill>
                <a:latin typeface="Tahoma"/>
              </a:rPr>
              <a:t>2.  จัดการฟีเจอร์ที่มีปัญหา data leakage (duration)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333333"/>
                </a:solidFill>
                <a:latin typeface="Tahoma"/>
              </a:rPr>
              <a:t>3.  แบ่ง train/test แบบ time-based (ไม่สลับข้อมูล)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333333"/>
                </a:solidFill>
                <a:latin typeface="Tahoma"/>
              </a:rPr>
              <a:t>4.  เทียบ 6 โมเดล × 3 รูปแบบ cross-validation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333333"/>
                </a:solidFill>
                <a:latin typeface="Tahoma"/>
              </a:rPr>
              <a:t>5.  เลือกโมเดลที่ดีที่สุด → ประเมินบน test set จริง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333333"/>
                </a:solidFill>
                <a:latin typeface="Tahoma"/>
              </a:rPr>
              <a:t>6.  ปรับ decision threshold ตามเป้าหมายธุรกิจ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333333"/>
                </a:solidFill>
                <a:latin typeface="Tahoma"/>
              </a:rPr>
              <a:t>7.  ตีความโมเดล (feature importance) + สรุปข้อจำกัด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</a:rPr>
              <a:t>2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66666"/>
                </a:solidFill>
              </a:rPr>
              <a:t>Bank Marketing — Term Deposit Prediction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9E73"/>
                </a:solidFill>
                <a:latin typeface="Tahoma"/>
              </a:rPr>
              <a:t>1. สำรวจข้อมูล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Tahoma"/>
              </a:rPr>
              <a:t>ข้อมูลเบื้องต้น และความไม่สมดุลของคลาส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1828800" cy="508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1920240" cy="1188720"/>
          </a:xfrm>
          <a:prstGeom prst="roundRect">
            <a:avLst>
              <a:gd name="adj" fmla="val 6000"/>
            </a:avLst>
          </a:prstGeom>
          <a:solidFill>
            <a:srgbClr val="F7F9F9"/>
          </a:solidFill>
          <a:ln w="15875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009E73"/>
                </a:solidFill>
                <a:latin typeface="Tahoma"/>
              </a:rPr>
              <a:t>45,211</a:t>
            </a:r>
          </a:p>
          <a:p>
            <a:pPr algn="ctr"/>
            <a:r>
              <a:rPr sz="1300">
                <a:solidFill>
                  <a:srgbClr val="333333"/>
                </a:solidFill>
                <a:latin typeface="Tahoma"/>
              </a:rPr>
              <a:t>แถวข้อมูล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06040" y="1554480"/>
            <a:ext cx="1920240" cy="1188720"/>
          </a:xfrm>
          <a:prstGeom prst="roundRect">
            <a:avLst>
              <a:gd name="adj" fmla="val 6000"/>
            </a:avLst>
          </a:prstGeom>
          <a:solidFill>
            <a:srgbClr val="F7F9F9"/>
          </a:solidFill>
          <a:ln w="15875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009E73"/>
                </a:solidFill>
                <a:latin typeface="Tahoma"/>
              </a:rPr>
              <a:t>17</a:t>
            </a:r>
          </a:p>
          <a:p>
            <a:pPr algn="ctr"/>
            <a:r>
              <a:rPr sz="1300">
                <a:solidFill>
                  <a:srgbClr val="333333"/>
                </a:solidFill>
                <a:latin typeface="Tahoma"/>
              </a:rPr>
              <a:t>คอลัมน์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1554480"/>
            <a:ext cx="1920240" cy="1188720"/>
          </a:xfrm>
          <a:prstGeom prst="roundRect">
            <a:avLst>
              <a:gd name="adj" fmla="val 6000"/>
            </a:avLst>
          </a:prstGeom>
          <a:solidFill>
            <a:srgbClr val="F7F9F9"/>
          </a:solidFill>
          <a:ln w="15875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009E73"/>
                </a:solidFill>
                <a:latin typeface="Tahoma"/>
              </a:rPr>
              <a:t>0</a:t>
            </a:r>
          </a:p>
          <a:p>
            <a:pPr algn="ctr"/>
            <a:r>
              <a:rPr sz="1300">
                <a:solidFill>
                  <a:srgbClr val="333333"/>
                </a:solidFill>
                <a:latin typeface="Tahoma"/>
              </a:rPr>
              <a:t>ค่า NaN จริง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880360"/>
            <a:ext cx="1920240" cy="1188720"/>
          </a:xfrm>
          <a:prstGeom prst="roundRect">
            <a:avLst>
              <a:gd name="adj" fmla="val 6000"/>
            </a:avLst>
          </a:prstGeom>
          <a:solidFill>
            <a:srgbClr val="F7F9F9"/>
          </a:solidFill>
          <a:ln w="15875">
            <a:solidFill>
              <a:srgbClr val="007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0072B2"/>
                </a:solidFill>
                <a:latin typeface="Tahoma"/>
              </a:rPr>
              <a:t>88.3%</a:t>
            </a:r>
          </a:p>
          <a:p>
            <a:pPr algn="ctr"/>
            <a:r>
              <a:rPr sz="1300">
                <a:solidFill>
                  <a:srgbClr val="333333"/>
                </a:solidFill>
                <a:latin typeface="Tahoma"/>
              </a:rPr>
              <a:t>deposit = no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06040" y="2880360"/>
            <a:ext cx="1920240" cy="1188720"/>
          </a:xfrm>
          <a:prstGeom prst="roundRect">
            <a:avLst>
              <a:gd name="adj" fmla="val 6000"/>
            </a:avLst>
          </a:prstGeom>
          <a:solidFill>
            <a:srgbClr val="F7F9F9"/>
          </a:solidFill>
          <a:ln w="15875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E69F00"/>
                </a:solidFill>
                <a:latin typeface="Tahoma"/>
              </a:rPr>
              <a:t>11.7%</a:t>
            </a:r>
          </a:p>
          <a:p>
            <a:pPr algn="ctr"/>
            <a:r>
              <a:rPr sz="1300">
                <a:solidFill>
                  <a:srgbClr val="333333"/>
                </a:solidFill>
                <a:latin typeface="Tahoma"/>
              </a:rPr>
              <a:t>deposit = yes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43400"/>
            <a:ext cx="60350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333333"/>
                </a:solidFill>
                <a:latin typeface="Tahoma"/>
              </a:rPr>
              <a:t>หลายคอลัมน์ใช้ "unknown" แทนค่าที่ไม่มี (ไม่ใช่ NaN):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  <a:latin typeface="Tahoma"/>
              </a:rPr>
              <a:t>▸ poutcome  —  unknown = 81.7%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  <a:latin typeface="Tahoma"/>
              </a:rPr>
              <a:t>▸ contact  —  unknown = 28.8%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  <a:latin typeface="Tahoma"/>
              </a:rPr>
              <a:t>▸ education  —  unknown = 4.1%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  <a:latin typeface="Tahoma"/>
              </a:rPr>
              <a:t>▸ job  —  unknown = 0.6%</a:t>
            </a:r>
          </a:p>
        </p:txBody>
      </p:sp>
      <p:pic>
        <p:nvPicPr>
          <p:cNvPr id="12" name="Picture 11" descr="cell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01000"/>
            <a:ext cx="4663440" cy="4553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</a:rPr>
              <a:t>3 / 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66666"/>
                </a:solidFill>
              </a:rPr>
              <a:t>Bank Marketing — Term Deposit Prediction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9E73"/>
                </a:solidFill>
                <a:latin typeface="Tahoma"/>
              </a:rPr>
              <a:t>1. สำรวจข้อมูล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Tahoma"/>
              </a:rPr>
              <a:t>ข้อมูลเรียงตามเวลา + ปัญหา Data Leakage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1828800" cy="508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333333"/>
                </a:solidFill>
                <a:latin typeface="Tahoma"/>
              </a:rPr>
              <a:t>▸ ไม่มีคอลัมน์วันที่ตรง ๆ แต่ month/day ยืนยันว่าข้อมูลเรียงตามลำดับเวลาติดต่อจริง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3333"/>
                </a:solidFill>
                <a:latin typeface="Tahoma"/>
              </a:rPr>
              <a:t>▸ เดือน "ลดลง" เมื่อไล่ตาม index แค่ 2 ครั้ง = ตรงกับจำนวนรอบปีของแคมเปญพอดี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333333"/>
                </a:solidFill>
                <a:latin typeface="Tahoma"/>
              </a:rPr>
              <a:t>–  → แถวบนสุด = เก่าสุด, แถวล่างสุด = ใหม่สุด (สำคัญมากสำหรับการแบ่ง train/test)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200400"/>
            <a:ext cx="11064240" cy="3017520"/>
          </a:xfrm>
          <a:prstGeom prst="roundRect">
            <a:avLst/>
          </a:prstGeom>
          <a:solidFill>
            <a:srgbClr val="FDF2E9"/>
          </a:solidFill>
          <a:ln w="15875">
            <a:solidFill>
              <a:srgbClr val="D55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/>
            <a:r>
              <a:rPr sz="1800" b="1">
                <a:solidFill>
                  <a:srgbClr val="D55E00"/>
                </a:solidFill>
                <a:latin typeface="Tahoma"/>
              </a:rPr>
              <a:t>⚠ duration รั่วไหลข้อมูลจากอนาคต (data leakage)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Tahoma"/>
              </a:rPr>
              <a:t>▸ duration = ความยาวการโทรครั้งล่าสุด — รู้ค่าได้ก็ต่อเมื่อ "โทรไปแล้ว" เท่านั้น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Tahoma"/>
              </a:rPr>
              <a:t>▸ ถ้าเป้าหมายคือ "เลือกว่าจะโทรหาใครก่อนโทร" เราจะไม่มีค่านี้ล่วงหน้า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Tahoma"/>
              </a:rPr>
              <a:t>▸ ทางแก้: ตัด duration ออกจากฟีเจอร์หลัก และทำการทดลองเสริม (Appendix B) เพื่อพิสูจน์ขนาดของ leakage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</a:rPr>
              <a:t>4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66666"/>
                </a:solidFill>
              </a:rPr>
              <a:t>Bank Marketing — Term Deposit Prediction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9E73"/>
                </a:solidFill>
                <a:latin typeface="Tahoma"/>
              </a:rPr>
              <a:t>2-3. FEATURE ENGINEERING &amp; SPLIT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Tahoma"/>
              </a:rPr>
              <a:t>แบ่ง Train / Test แบบ Time-based (ไม่สลับข้อมูล)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1828800" cy="508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333333"/>
                </a:solidFill>
                <a:latin typeface="Tahoma"/>
              </a:rPr>
              <a:t>▸ pdays == -1 (ไม่เคยติดต่อมาก่อน) → แยกเป็นฟีเจอร์ was_contacted_before แล้วแทนค่าด้วย 0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3333"/>
                </a:solidFill>
                <a:latin typeface="Tahoma"/>
              </a:rPr>
              <a:t>▸ แบ่งข้อมูล 80:20 ตามตำแหน่งแถว (ไม่สุ่ม) เพราะข้อมูลเรียงตามเวลาจริง และ use case คือ "ใช้อดีตพยากรณ์อนาคต"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834640"/>
            <a:ext cx="3474720" cy="1463040"/>
          </a:xfrm>
          <a:prstGeom prst="roundRect">
            <a:avLst>
              <a:gd name="adj" fmla="val 6000"/>
            </a:avLst>
          </a:prstGeom>
          <a:solidFill>
            <a:srgbClr val="F7F9F9"/>
          </a:solidFill>
          <a:ln w="15875">
            <a:solidFill>
              <a:srgbClr val="007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0072B2"/>
                </a:solidFill>
                <a:latin typeface="Tahoma"/>
              </a:rPr>
              <a:t>36,168 แถว</a:t>
            </a:r>
          </a:p>
          <a:p>
            <a:pPr algn="ctr"/>
            <a:r>
              <a:rPr sz="1300">
                <a:solidFill>
                  <a:srgbClr val="333333"/>
                </a:solidFill>
                <a:latin typeface="Tahoma"/>
              </a:rPr>
              <a:t>Train set — deposit=yes 6.7%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2834640"/>
            <a:ext cx="3474720" cy="1463040"/>
          </a:xfrm>
          <a:prstGeom prst="roundRect">
            <a:avLst>
              <a:gd name="adj" fmla="val 6000"/>
            </a:avLst>
          </a:prstGeom>
          <a:solidFill>
            <a:srgbClr val="F7F9F9"/>
          </a:solidFill>
          <a:ln w="15875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E69F00"/>
                </a:solidFill>
                <a:latin typeface="Tahoma"/>
              </a:rPr>
              <a:t>9,043 แถว</a:t>
            </a:r>
          </a:p>
          <a:p>
            <a:pPr algn="ctr"/>
            <a:r>
              <a:rPr sz="1300">
                <a:solidFill>
                  <a:srgbClr val="333333"/>
                </a:solidFill>
                <a:latin typeface="Tahoma"/>
              </a:rPr>
              <a:t>Test set — deposit=yes 31.6%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834640"/>
            <a:ext cx="3566160" cy="1463040"/>
          </a:xfrm>
          <a:prstGeom prst="roundRect">
            <a:avLst/>
          </a:prstGeom>
          <a:solidFill>
            <a:srgbClr val="F7F9F9"/>
          </a:solidFill>
          <a:ln w="15875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500" b="1">
                <a:solidFill>
                  <a:srgbClr val="333333"/>
                </a:solidFill>
                <a:latin typeface="Tahoma"/>
              </a:rPr>
              <a:t>สัดส่วนคลาสเปลี่ยนไป 4-5 เท่า ระหว่าง train กับ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6634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9E73"/>
                </a:solidFill>
                <a:latin typeface="Tahoma"/>
              </a:rPr>
              <a:t>ทำไมไม่ shuffle: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ahoma"/>
              </a:rPr>
              <a:t>▸ สุ่มสลับจะทำให้ตัวอย่างจาก "ช่วงเวลาเดียวกัน" หลุดไปอยู่ทั้ง train และ test → validation ดูดีเกินจริง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ahoma"/>
              </a:rPr>
              <a:t>▸ Use case จริง = ใช้แคมเปญที่ผ่านมา พยากรณ์แคมเปญถัดไป ซึ่งเป็น time-based โดยธรรมชาติ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</a:rPr>
              <a:t>5 / 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66666"/>
                </a:solidFill>
              </a:rPr>
              <a:t>Bank Marketing — Term Deposit Prediction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9E73"/>
                </a:solidFill>
                <a:latin typeface="Tahoma"/>
              </a:rPr>
              <a:t>4. หลักการโมเดล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Tahoma"/>
              </a:rPr>
              <a:t>Classification คืออะไร + Bias/Variance ของแต่ละโมเดล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1828800" cy="508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ell13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453" y="1417320"/>
            <a:ext cx="9600613" cy="3017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526280"/>
            <a:ext cx="11064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072B2"/>
                </a:solidFill>
                <a:latin typeface="Tahoma"/>
              </a:rPr>
              <a:t>LogisticRegression</a:t>
            </a:r>
            <a:r>
              <a:rPr sz="1500">
                <a:solidFill>
                  <a:srgbClr val="333333"/>
                </a:solidFill>
                <a:latin typeface="Tahoma"/>
              </a:rPr>
              <a:t> = เส้นตรงเดียว (bias สูง, variance ต่ำ) → เสถียรข้ามช่วงเวลา</a:t>
            </a:r>
          </a:p>
          <a:p>
            <a:r>
              <a:rPr sz="1500" b="1">
                <a:solidFill>
                  <a:srgbClr val="009E73"/>
                </a:solidFill>
                <a:latin typeface="Tahoma"/>
              </a:rPr>
              <a:t>RandomForest / HistGradientBoosting</a:t>
            </a:r>
            <a:r>
              <a:rPr sz="1500">
                <a:solidFill>
                  <a:srgbClr val="333333"/>
                </a:solidFill>
                <a:latin typeface="Tahoma"/>
              </a:rPr>
              <a:t> = ขอบเขตซับซ้อน (bias ต่ำ, variance สูง) → เสี่ยง overfit ต่อช่วงเวลาที่เห็นตอน train</a:t>
            </a:r>
          </a:p>
          <a:p>
            <a:pPr>
              <a:spcBef>
                <a:spcPts val="800"/>
              </a:spcBef>
            </a:pPr>
            <a:r>
              <a:rPr sz="1500" i="1">
                <a:solidFill>
                  <a:srgbClr val="666666"/>
                </a:solidFill>
                <a:latin typeface="Tahoma"/>
              </a:rPr>
              <a:t>→ นี่คือเหตุผลที่โมเดล tree-based ร่วงแรงกว่า Logistic เมื่อเปลี่ยนจาก shuffle CV ไปเป็น time-based CV (สไลด์ถัดไป)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</a:rPr>
              <a:t>6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66666"/>
                </a:solidFill>
              </a:rPr>
              <a:t>Bank Marketing — Term Deposit Prediction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9E73"/>
                </a:solidFill>
                <a:latin typeface="Tahoma"/>
              </a:rPr>
              <a:t>6. เปรียบเทียบโมเดล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Tahoma"/>
              </a:rPr>
              <a:t>6 โมเดล × 3 รูปแบบ Cross-Validation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1828800" cy="508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ell18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417320"/>
            <a:ext cx="685800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16636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333333"/>
                </a:solidFill>
                <a:latin typeface="Tahoma"/>
              </a:rPr>
              <a:t>คะแนนทุกโมเดลลดลงเมื่อ validation สมจริงขึ้น (shuffle → block CV → TimeSeriesSplit) — HistGradientBoosting ลดจาก 0.712 → 0.542 ขณะที่ LogisticRegression ลดน้อยกว่า (0.685 → 0.540) เพราะ capacity ต่ำกว่า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</a:rPr>
              <a:t>7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66666"/>
                </a:solidFill>
              </a:rPr>
              <a:t>Bank Marketing — Term Deposit Prediction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9E73"/>
                </a:solidFill>
                <a:latin typeface="Tahoma"/>
              </a:rPr>
              <a:t>6. เปรียบเทียบโมเดล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Tahoma"/>
              </a:rPr>
              <a:t>รูปแบบ Cross-Validation ทั้ง 3 แบบ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1828800" cy="508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Tahoma"/>
                        </a:rPr>
                        <a:t>รูปแบบ</a:t>
                      </a:r>
                    </a:p>
                  </a:txBody>
                  <a:tcPr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Tahoma"/>
                        </a:rPr>
                        <a:t>ลักษณะ</a:t>
                      </a:r>
                    </a:p>
                  </a:txBody>
                  <a:tcPr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Tahoma"/>
                        </a:rPr>
                        <a:t>เหมาะกับ</a:t>
                      </a:r>
                    </a:p>
                  </a:txBody>
                  <a:tcPr>
                    <a:solidFill>
                      <a:srgbClr val="009E73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StratifiedKFold(shuffle=True)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สุ่มสลับ สัดส่วนคลาสเท่ากันทุก fold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เทียบความแรงของโมเดลแบบมาตรฐานทั่วไป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KFold(shuffle=False)</a:t>
                      </a:r>
                    </a:p>
                  </a:txBody>
                  <a:tcPr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ไม่สุ่ม ตัดเป็นช่วงต่อเนื่องตามเวลา</a:t>
                      </a:r>
                    </a:p>
                  </a:txBody>
                  <a:tcPr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ดูความเสถียรข้ามช่วงเวลา</a:t>
                      </a:r>
                    </a:p>
                  </a:txBody>
                  <a:tcPr>
                    <a:solidFill>
                      <a:srgbClr val="F7F9F9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TimeSeriesSplit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expanding window, train อดีต → test อนาคตเท่านั้น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สมจริงที่สุดสำหรับ deployment จริง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3931920"/>
            <a:ext cx="11064240" cy="2286000"/>
          </a:xfrm>
          <a:prstGeom prst="roundRect">
            <a:avLst/>
          </a:prstGeom>
          <a:solidFill>
            <a:srgbClr val="F7F9F9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/>
            <a:r>
              <a:rPr sz="1500" b="1">
                <a:solidFill>
                  <a:srgbClr val="333333"/>
                </a:solidFill>
                <a:latin typeface="Tahoma"/>
              </a:rPr>
              <a:t>Dummy (baseline) = 0.500 ทุก scheme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ahoma"/>
              </a:rPr>
              <a:t>▸ ใช้ยืนยันว่าโมเดลอื่นเรียนรู้อะไรจริง ไม่ใช่เรื่องบังเอิญ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ahoma"/>
              </a:rPr>
              <a:t>▸ เลือกโมเดลสุดท้ายจาก TimeSeriesSplit เพราะเป็น scheme ที่สมจริงที่สุด ไม่ใช่จาก shuffle CV ที่ดูดีเกินจริง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</a:rPr>
              <a:t>8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66666"/>
                </a:solidFill>
              </a:rPr>
              <a:t>Bank Marketing — Term Deposit Prediction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9E73"/>
                </a:solidFill>
                <a:latin typeface="Tahoma"/>
              </a:rPr>
              <a:t>7. ประเมินผลบน TEST 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Tahoma"/>
              </a:rPr>
              <a:t>โมเดลที่เลือก: HistGradientBoosting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1828800" cy="508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2560320" cy="1188720"/>
          </a:xfrm>
          <a:prstGeom prst="roundRect">
            <a:avLst>
              <a:gd name="adj" fmla="val 6000"/>
            </a:avLst>
          </a:prstGeom>
          <a:solidFill>
            <a:srgbClr val="F7F9F9"/>
          </a:solidFill>
          <a:ln w="15875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009E73"/>
                </a:solidFill>
                <a:latin typeface="Tahoma"/>
              </a:rPr>
              <a:t>0.680</a:t>
            </a:r>
          </a:p>
          <a:p>
            <a:pPr algn="ctr"/>
            <a:r>
              <a:rPr sz="1300">
                <a:solidFill>
                  <a:srgbClr val="333333"/>
                </a:solidFill>
                <a:latin typeface="Tahoma"/>
              </a:rPr>
              <a:t>Test ROC-AUC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463040"/>
            <a:ext cx="2560320" cy="1188720"/>
          </a:xfrm>
          <a:prstGeom prst="roundRect">
            <a:avLst>
              <a:gd name="adj" fmla="val 6000"/>
            </a:avLst>
          </a:prstGeom>
          <a:solidFill>
            <a:srgbClr val="F7F9F9"/>
          </a:solidFill>
          <a:ln w="15875">
            <a:solidFill>
              <a:srgbClr val="007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0072B2"/>
                </a:solidFill>
                <a:latin typeface="Tahoma"/>
              </a:rPr>
              <a:t>0.468</a:t>
            </a:r>
          </a:p>
          <a:p>
            <a:pPr algn="ctr"/>
            <a:r>
              <a:rPr sz="1300">
                <a:solidFill>
                  <a:srgbClr val="333333"/>
                </a:solidFill>
                <a:latin typeface="Tahoma"/>
              </a:rPr>
              <a:t>Test PR-AUC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463040"/>
            <a:ext cx="2560320" cy="1188720"/>
          </a:xfrm>
          <a:prstGeom prst="roundRect">
            <a:avLst>
              <a:gd name="adj" fmla="val 6000"/>
            </a:avLst>
          </a:prstGeom>
          <a:solidFill>
            <a:srgbClr val="F7F9F9"/>
          </a:solidFill>
          <a:ln w="15875">
            <a:solidFill>
              <a:srgbClr val="D55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D55E00"/>
                </a:solidFill>
                <a:latin typeface="Tahoma"/>
              </a:rPr>
              <a:t>8%</a:t>
            </a:r>
          </a:p>
          <a:p>
            <a:pPr algn="ctr"/>
            <a:r>
              <a:rPr sz="1300">
                <a:solidFill>
                  <a:srgbClr val="333333"/>
                </a:solidFill>
                <a:latin typeface="Tahoma"/>
              </a:rPr>
              <a:t>Recall (yes) @ threshold 0.5</a:t>
            </a:r>
          </a:p>
        </p:txBody>
      </p:sp>
      <p:pic>
        <p:nvPicPr>
          <p:cNvPr id="9" name="Picture 8" descr="cell2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989346"/>
            <a:ext cx="11064240" cy="3348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</a:rPr>
              <a:t>9 / 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66666"/>
                </a:solidFill>
              </a:rPr>
              <a:t>Bank Marketing — Term Deposit Prediction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9E73"/>
                </a:solidFill>
                <a:latin typeface="Tahoma"/>
              </a:rPr>
              <a:t>7. ปรับ DECISION THRESHOLD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Tahoma"/>
              </a:rPr>
              <a:t>ปรับ Threshold เพื่อเพิ่ม Recall — แต่ยังใช้จริงไม่ได้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1828800" cy="508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Tahoma"/>
                        </a:rPr>
                        <a:t>Threshold</a:t>
                      </a:r>
                    </a:p>
                  </a:txBody>
                  <a:tcPr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Tahoma"/>
                        </a:rPr>
                        <a:t>Recall (yes)</a:t>
                      </a:r>
                    </a:p>
                  </a:txBody>
                  <a:tcPr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Tahoma"/>
                        </a:rPr>
                        <a:t>Recall (no)</a:t>
                      </a:r>
                    </a:p>
                  </a:txBody>
                  <a:tcPr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Tahoma"/>
                        </a:rPr>
                        <a:t>ผลลัพธ์</a:t>
                      </a:r>
                    </a:p>
                  </a:txBody>
                  <a:tcPr>
                    <a:solidFill>
                      <a:srgbClr val="009E73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0.50 (default)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97%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พลาดลูกค้าจริงเกือบหมด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0.038 (tuned, recall target 80%)</a:t>
                      </a:r>
                    </a:p>
                  </a:txBody>
                  <a:tcPr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97%</a:t>
                      </a:r>
                    </a:p>
                  </a:txBody>
                  <a:tcPr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8%</a:t>
                      </a:r>
                    </a:p>
                  </a:txBody>
                  <a:tcPr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โทรเกือบทุกคน ≈ ไม่กรองเลย</a:t>
                      </a:r>
                    </a:p>
                  </a:txBody>
                  <a:tcPr>
                    <a:solidFill>
                      <a:srgbClr val="F7F9F9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3200400"/>
            <a:ext cx="11064240" cy="3017520"/>
          </a:xfrm>
          <a:prstGeom prst="roundRect">
            <a:avLst/>
          </a:prstGeom>
          <a:solidFill>
            <a:srgbClr val="FDF2E9"/>
          </a:solidFill>
          <a:ln w="15875">
            <a:solidFill>
              <a:srgbClr val="D55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/>
            <a:r>
              <a:rPr sz="1800" b="1">
                <a:solidFill>
                  <a:srgbClr val="D55E00"/>
                </a:solidFill>
                <a:latin typeface="Tahoma"/>
              </a:rPr>
              <a:t>⚠ สาเหตุ: Concept drift ของสัดส่วนคลาส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Tahoma"/>
              </a:rPr>
              <a:t>▸ Validation set (ตัดจากท้าย train): deposit=yes แค่ 13.7%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Tahoma"/>
              </a:rPr>
              <a:t>▸ Test set จริง (ช่วงเวลาถัดมา): deposit=yes สูงถึง 31.6%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Tahoma"/>
              </a:rPr>
              <a:t>▸ threshold ที่ tune จาก validation ใช้ตรง ๆ กับอนาคตไม่ได้ เพราะสัดส่วนคลาสเปลี่ยนเร็วกว่าที่คิด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</a:rPr>
              <a:t>10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66666"/>
                </a:solidFill>
              </a:rPr>
              <a:t>Bank Marketing — Term Deposit Prediction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9E73"/>
                </a:solidFill>
                <a:latin typeface="Tahoma"/>
              </a:rPr>
              <a:t>7. กลยุทธ์ธุรกิจ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Tahoma"/>
              </a:rPr>
              <a:t>Gains / Lift Curve: "โทร Top กี่% คุ้มที่สุด"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1828800" cy="508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ell29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20" y="1371600"/>
            <a:ext cx="5374640" cy="420624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309360" y="1463040"/>
          <a:ext cx="53035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7840"/>
                <a:gridCol w="1767840"/>
                <a:gridCol w="176784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Tahoma"/>
                        </a:rPr>
                        <a:t>โทร Top %</a:t>
                      </a:r>
                    </a:p>
                  </a:txBody>
                  <a:tcPr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Tahoma"/>
                        </a:rPr>
                        <a:t>จับลูกค้าได้ (recall)</a:t>
                      </a:r>
                    </a:p>
                  </a:txBody>
                  <a:tcPr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Tahoma"/>
                        </a:rPr>
                        <a:t>Lift</a:t>
                      </a:r>
                    </a:p>
                  </a:txBody>
                  <a:tcPr>
                    <a:solidFill>
                      <a:srgbClr val="009E7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16.3%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1.6×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20%</a:t>
                      </a:r>
                    </a:p>
                  </a:txBody>
                  <a:tcPr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32.7%</a:t>
                      </a:r>
                    </a:p>
                  </a:txBody>
                  <a:tcPr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1.6×</a:t>
                      </a:r>
                    </a:p>
                  </a:txBody>
                  <a:tcPr>
                    <a:solidFill>
                      <a:srgbClr val="F7F9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48.0%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1.6×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50%</a:t>
                      </a:r>
                    </a:p>
                  </a:txBody>
                  <a:tcPr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69.1%</a:t>
                      </a:r>
                    </a:p>
                  </a:txBody>
                  <a:tcPr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1.4×</a:t>
                      </a:r>
                    </a:p>
                  </a:txBody>
                  <a:tcPr>
                    <a:solidFill>
                      <a:srgbClr val="F7F9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89.9%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1.1×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309360" y="4937760"/>
            <a:ext cx="5303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666666"/>
                </a:solidFill>
                <a:latin typeface="Tahoma"/>
              </a:rPr>
              <a:t>เลือกจุดตัดจากต้นทุนต่อการโทร (c) และมูลค่าลูกค้าที่ฝากจริง (v) หรือโควต้าการโทรที่มี — ไม่ใช่ threshold ตายตัว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</a:rPr>
              <a:t>11 / 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66666"/>
                </a:solidFill>
              </a:rPr>
              <a:t>Bank Marketing — Term Deposit Prediction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9E73"/>
                </a:solidFill>
                <a:latin typeface="Tahoma"/>
              </a:rPr>
              <a:t>INTERPRETABILITY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Tahoma"/>
              </a:rPr>
              <a:t>Feature Importance: อะไรบ่งชี้ว่าใครจะฝากประจำ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1828800" cy="508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ell3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33939"/>
            <a:ext cx="5852160" cy="415588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009E73"/>
                </a:solidFill>
                <a:latin typeface="Tahoma"/>
              </a:rPr>
              <a:t>poutcome  —  </a:t>
            </a:r>
            <a:r>
              <a:rPr sz="1500">
                <a:solidFill>
                  <a:srgbClr val="333333"/>
                </a:solidFill>
                <a:latin typeface="Tahoma"/>
              </a:rPr>
              <a:t>ผลแคมเปญครั้งก่อน — สำคัญที่สุดแบบทิ้งห่าง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09E73"/>
                </a:solidFill>
                <a:latin typeface="Tahoma"/>
              </a:rPr>
              <a:t>month  —  </a:t>
            </a:r>
            <a:r>
              <a:rPr sz="1500">
                <a:solidFill>
                  <a:srgbClr val="333333"/>
                </a:solidFill>
                <a:latin typeface="Tahoma"/>
              </a:rPr>
              <a:t>ฤดูกาล/จังหวะการติดต่อ — สำคัญอันดับ 2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09E73"/>
                </a:solidFill>
                <a:latin typeface="Tahoma"/>
              </a:rPr>
              <a:t>age / balance  —  </a:t>
            </a:r>
            <a:r>
              <a:rPr sz="1500">
                <a:solidFill>
                  <a:srgbClr val="333333"/>
                </a:solidFill>
                <a:latin typeface="Tahoma"/>
              </a:rPr>
              <a:t>ลักษณะการเงิน/ช่วงวัยลูกค้า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09E73"/>
                </a:solidFill>
                <a:latin typeface="Tahoma"/>
              </a:rPr>
              <a:t>อื่น ๆ  —  </a:t>
            </a:r>
            <a:r>
              <a:rPr sz="1500">
                <a:solidFill>
                  <a:srgbClr val="333333"/>
                </a:solidFill>
                <a:latin typeface="Tahoma"/>
              </a:rPr>
              <a:t>day, contact, marital ฯลฯ มีผลค่อนข้างน้อย</a:t>
            </a:r>
          </a:p>
          <a:p>
            <a:pPr>
              <a:spcBef>
                <a:spcPts val="1000"/>
              </a:spcBef>
            </a:pPr>
            <a:r>
              <a:rPr sz="1400" i="1">
                <a:solidFill>
                  <a:srgbClr val="666666"/>
                </a:solidFill>
                <a:latin typeface="Tahoma"/>
              </a:rPr>
              <a:t>นัยธุรกิจ: จัดลำดับติดต่อลูกค้า poutcome=success ก่อน แล้วเลือกจังหวะเดือนที่ปิดดีลได้ดีในอดีต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</a:rPr>
              <a:t>13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66666"/>
                </a:solidFill>
              </a:rPr>
              <a:t>Bank Marketing — Term Deposit Prediction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9E73"/>
                </a:solidFill>
                <a:latin typeface="Tahoma"/>
              </a:rPr>
              <a:t>APPENDIX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Tahoma"/>
              </a:rPr>
              <a:t>ทำไมไม่ควรสลับข้อมูล: Time-based vs Random Split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1828800" cy="508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97280" y="2011680"/>
            <a:ext cx="4114800" cy="2011680"/>
          </a:xfrm>
          <a:prstGeom prst="roundRect">
            <a:avLst>
              <a:gd name="adj" fmla="val 6000"/>
            </a:avLst>
          </a:prstGeom>
          <a:solidFill>
            <a:srgbClr val="F7F9F9"/>
          </a:solidFill>
          <a:ln w="15875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009E73"/>
                </a:solidFill>
                <a:latin typeface="Tahoma"/>
              </a:rPr>
              <a:t>0.680</a:t>
            </a:r>
          </a:p>
          <a:p>
            <a:pPr algn="ctr"/>
            <a:r>
              <a:rPr sz="1300">
                <a:solidFill>
                  <a:srgbClr val="333333"/>
                </a:solidFill>
                <a:latin typeface="Tahoma"/>
              </a:rPr>
              <a:t>Time-based split (no shuffle)
ROC-AUC จริงที่ใช้งานได้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0" y="2011680"/>
            <a:ext cx="4114800" cy="2011680"/>
          </a:xfrm>
          <a:prstGeom prst="roundRect">
            <a:avLst>
              <a:gd name="adj" fmla="val 6000"/>
            </a:avLst>
          </a:prstGeom>
          <a:solidFill>
            <a:srgbClr val="F7F9F9"/>
          </a:solidFill>
          <a:ln w="15875">
            <a:solidFill>
              <a:srgbClr val="D55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D55E00"/>
                </a:solidFill>
                <a:latin typeface="Tahoma"/>
              </a:rPr>
              <a:t>0.804</a:t>
            </a:r>
          </a:p>
          <a:p>
            <a:pPr algn="ctr"/>
            <a:r>
              <a:rPr sz="1300">
                <a:solidFill>
                  <a:srgbClr val="333333"/>
                </a:solidFill>
                <a:latin typeface="Tahoma"/>
              </a:rPr>
              <a:t>Random split (shuffle+stratify)
ดูดีเกินจริง (optimistic bias)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333333"/>
                </a:solidFill>
                <a:latin typeface="Tahoma"/>
              </a:rPr>
              <a:t>ส่วนต่าง 0.124 ROC-AUC มาจากการที่ random split ปล่อยให้ข้อมูล "อนาคต" รั่วเข้าไปใน train ผ่านตัวอย่างจากช่วงเวลาเดียวกัน — ถ้าใช้ตัวเลขนี้ตัดสินใจ deploy จริง จะคาดหวังผลเกินจริงไปมาก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</a:rPr>
              <a:t>14 / 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66666"/>
                </a:solidFill>
              </a:rPr>
              <a:t>Bank Marketing — Term Deposit Prediction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9E73"/>
                </a:solidFill>
                <a:latin typeface="Tahoma"/>
              </a:rPr>
              <a:t>APPENDIX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Tahoma"/>
              </a:rPr>
              <a:t>ยืนยัน Data Leakage ของ duration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1828800" cy="508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097280" y="1828800"/>
          <a:ext cx="996696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ahoma"/>
                        </a:rPr>
                        <a:t>ชุดฟีเจอร์</a:t>
                      </a:r>
                    </a:p>
                  </a:txBody>
                  <a:tcPr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ahoma"/>
                        </a:rPr>
                        <a:t>Test ROC-AUC</a:t>
                      </a:r>
                    </a:p>
                  </a:txBody>
                  <a:tcPr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ahoma"/>
                        </a:rPr>
                        <a:t>Test PR-AUC</a:t>
                      </a:r>
                    </a:p>
                  </a:txBody>
                  <a:tcPr>
                    <a:solidFill>
                      <a:srgbClr val="009E7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333333"/>
                          </a:solidFill>
                          <a:latin typeface="Tahoma"/>
                        </a:rPr>
                        <a:t>ไม่มี duration (ใช้งานจริงได้)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333333"/>
                          </a:solidFill>
                          <a:latin typeface="Tahoma"/>
                        </a:rPr>
                        <a:t>0.680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333333"/>
                          </a:solidFill>
                          <a:latin typeface="Tahoma"/>
                        </a:rPr>
                        <a:t>0.468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333333"/>
                          </a:solidFill>
                          <a:latin typeface="Tahoma"/>
                        </a:rPr>
                        <a:t>มี duration (รู้ผลหลังโทรแล้ว)</a:t>
                      </a:r>
                    </a:p>
                  </a:txBody>
                  <a:tcPr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333333"/>
                          </a:solidFill>
                          <a:latin typeface="Tahoma"/>
                        </a:rPr>
                        <a:t>0.787</a:t>
                      </a:r>
                    </a:p>
                  </a:txBody>
                  <a:tcPr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333333"/>
                          </a:solidFill>
                          <a:latin typeface="Tahoma"/>
                        </a:rPr>
                        <a:t>0.557</a:t>
                      </a:r>
                    </a:p>
                  </a:txBody>
                  <a:tcPr>
                    <a:solidFill>
                      <a:srgbClr val="F7F9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97280" y="3931920"/>
            <a:ext cx="9966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333333"/>
                </a:solidFill>
                <a:latin typeface="Tahoma"/>
              </a:rPr>
              <a:t>เมื่อใส่ duration กลับเข้าไป ROC-AUC พุ่งขึ้น +0.107 — ยืนยันชัดเจนว่าเป็น leakage จริง และไม่ควรใช้กับโมเดลที่ต้อง "เลือกเป้าหมายก่อนโทร"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</a:rPr>
              <a:t>15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66666"/>
                </a:solidFill>
              </a:rPr>
              <a:t>Bank Marketing — Term Deposit Prediction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9E73"/>
                </a:solidFill>
                <a:latin typeface="Tahoma"/>
              </a:rPr>
              <a:t>ทดลองเพิ่มเติม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Tahoma"/>
              </a:rPr>
              <a:t>ทดลองสัดส่วน Train:Test หลายแบบ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1828800" cy="508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ell39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371600"/>
            <a:ext cx="685800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1206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333333"/>
                </a:solidFill>
                <a:latin typeface="Tahoma"/>
              </a:rPr>
              <a:t>คู่ที่ดีที่สุด: LogisticRegression @ 80:20 — ROC-AUC 0.684, PR-AUC 0.488, F1 0.517 (ใกล้เคียง HistGradientBoosting และเสถียรกว่าในหลายสัดส่วน)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</a:rPr>
              <a:t>16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66666"/>
                </a:solidFill>
              </a:rPr>
              <a:t>Bank Marketing — Term Deposit Prediction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9E73"/>
                </a:solidFill>
                <a:latin typeface="Tahoma"/>
              </a:rPr>
              <a:t>APPENDIX C —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Tahoma"/>
              </a:rPr>
              <a:t>Scaler: ปรับสเกลฟีเจอร์ตัวเลข เลือกแบบไหนดี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1828800" cy="508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666666"/>
                </a:solidFill>
              </a:rPr>
              <a:t>17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66666"/>
                </a:solidFill>
              </a:rPr>
              <a:t>Bank Marketing — Term Deposit Prediction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17320"/>
          <a:ext cx="11064238" cy="2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3826"/>
                <a:gridCol w="2458720"/>
                <a:gridCol w="3688079"/>
                <a:gridCol w="2663613"/>
              </a:tblGrid>
              <a:tr h="4200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Tahoma"/>
                        </a:rPr>
                        <a:t>Scaler</a:t>
                      </a:r>
                    </a:p>
                  </a:txBody>
                  <a:tcPr marT="45720" marB="45720" anchor="ctr"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Tahoma"/>
                        </a:rPr>
                        <a:t>วิธีทำ</a:t>
                      </a:r>
                    </a:p>
                  </a:txBody>
                  <a:tcPr marT="45720" marB="45720" anchor="ctr"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Tahoma"/>
                        </a:rPr>
                        <a:t>เหมาะกับข้อมูลแบบ</a:t>
                      </a:r>
                    </a:p>
                  </a:txBody>
                  <a:tcPr marT="45720" marB="45720" anchor="ctr"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Tahoma"/>
                        </a:rPr>
                        <a:t>ข้อควรระวัง</a:t>
                      </a:r>
                    </a:p>
                  </a:txBody>
                  <a:tcPr marT="45720" marB="45720" anchor="ctr">
                    <a:solidFill>
                      <a:srgbClr val="009E73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33333"/>
                          </a:solidFill>
                          <a:latin typeface="Tahoma"/>
                        </a:rPr>
                        <a:t>StandardScaler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(x − mean) / std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กระจายใกล้ปกติ — ค่าเริ่มต้นที่ใช้บ่อยสุด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outlier ดึง mean/std เพี้ยน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33333"/>
                          </a:solidFill>
                          <a:latin typeface="Tahoma"/>
                        </a:rPr>
                        <a:t>MinMaxScaler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บีบเข้าช่วง [0, 1]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มีขอบเขตชัด เช่น %, pixel, Neural Net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ไวต่อ outlier มาก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33333"/>
                          </a:solidFill>
                          <a:latin typeface="Tahoma"/>
                        </a:rPr>
                        <a:t>RobustScaler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(x − median) / IQR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มี outlier เยอะ เช่น balance, campaign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ไม่บีบเข้าช่วงตายตัว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33333"/>
                          </a:solidFill>
                          <a:latin typeface="Tahoma"/>
                        </a:rPr>
                        <a:t>PowerTransformer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Yeo-Johnson / Box-Cox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ข้อมูลเบ้มาก (หางยาวข้างเดียว)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ตีความค่าหลังแปลงยากขึ้น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33333"/>
                          </a:solidFill>
                          <a:latin typeface="Tahoma"/>
                        </a:rPr>
                        <a:t>MaxAbsScaler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x / |x|max → [-1, 1]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sparse data (one-hot, TF-IDF)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ไวต่อ outlier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297680"/>
            <a:ext cx="11064240" cy="1508760"/>
          </a:xfrm>
          <a:prstGeom prst="roundRect">
            <a:avLst>
              <a:gd name="adj" fmla="val 8000"/>
            </a:avLst>
          </a:prstGeom>
          <a:solidFill>
            <a:srgbClr val="F7F9F9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400" b="1">
                <a:solidFill>
                  <a:srgbClr val="333333"/>
                </a:solidFill>
                <a:latin typeface="Tahoma"/>
              </a:rPr>
              <a:t>ใครต้อง scale: Logistic, SVM, KNN, Neural Net, PCA — โมเดลต้นไม้ (RF, GBM) ไม่จำเป็น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333333"/>
                </a:solidFill>
                <a:latin typeface="Tahoma"/>
              </a:rPr>
              <a:t>▸ fit scaler บน train เท่านั้น แล้วค่อย transform test — ใส่ใน Pipeline เพื่อกัน data leakage ทุก fold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333333"/>
                </a:solidFill>
                <a:latin typeface="Tahoma"/>
              </a:rPr>
              <a:t>▸ โปรเจกต์นี้ใช้ StandardScaler; balance/campaign เบ้และมี outlier → ลอง RobustScaler หรือ PowerTransformer เพื่อช่วย Logistic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9E73"/>
                </a:solidFill>
                <a:latin typeface="Tahoma"/>
              </a:rPr>
              <a:t>APPENDIX D —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Tahoma"/>
              </a:rPr>
              <a:t>Encoding: แปลงข้อมูลประเภท (categorical) เป็นตัวเลข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1828800" cy="508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666666"/>
                </a:solidFill>
              </a:rPr>
              <a:t>18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66666"/>
                </a:solidFill>
              </a:rPr>
              <a:t>Bank Marketing — Term Deposit Prediction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17320"/>
          <a:ext cx="11064238" cy="2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816351"/>
                <a:gridCol w="3218688"/>
                <a:gridCol w="2816351"/>
              </a:tblGrid>
              <a:tr h="4000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Tahoma"/>
                        </a:rPr>
                        <a:t>วิธี</a:t>
                      </a:r>
                    </a:p>
                  </a:txBody>
                  <a:tcPr marT="45720" marB="45720" anchor="ctr"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Tahoma"/>
                        </a:rPr>
                        <a:t>ทำอะไร</a:t>
                      </a:r>
                    </a:p>
                  </a:txBody>
                  <a:tcPr marT="45720" marB="45720" anchor="ctr"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Tahoma"/>
                        </a:rPr>
                        <a:t>เหมาะกับ</a:t>
                      </a:r>
                    </a:p>
                  </a:txBody>
                  <a:tcPr marT="45720" marB="45720" anchor="ctr"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Tahoma"/>
                        </a:rPr>
                        <a:t>ข้อควรระวัง</a:t>
                      </a:r>
                    </a:p>
                  </a:txBody>
                  <a:tcPr marT="45720" marB="45720" anchor="ctr">
                    <a:solidFill>
                      <a:srgbClr val="009E73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33333"/>
                          </a:solidFill>
                          <a:latin typeface="Tahoma"/>
                        </a:rPr>
                        <a:t>Label Encoding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แทนค่าด้วย 0, 1, 2, …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ตัว target (y) เช่น no→0, yes→1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ใช้กับฟีเจอร์ = ลำดับปลอม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33333"/>
                          </a:solidFill>
                          <a:latin typeface="Tahoma"/>
                        </a:rPr>
                        <a:t>Ordinal Encoding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เลขตามลำดับที่กำหนดเอง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หมวดที่มีลำดับจริง เช่น education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ต้องระบุลำดับเอง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33333"/>
                          </a:solidFill>
                          <a:latin typeface="Tahoma"/>
                        </a:rPr>
                        <a:t>One-Hot Encoding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1 คอลัมน์ 0/1 ต่อ 1 ค่า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nominal ค่าไม่มาก เช่น job, marital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ค่าเยอะ → คอลัมน์ระเบิด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33333"/>
                          </a:solidFill>
                          <a:latin typeface="Tahoma"/>
                        </a:rPr>
                        <a:t>Target Encoding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แทนด้วยค่าเฉลี่ย target ของหมวด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nominal ค่าเยอะมาก (หลักร้อย–พัน)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เสี่ยง leakage ต้อง cross-fit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33333"/>
                          </a:solidFill>
                          <a:latin typeface="Tahoma"/>
                        </a:rPr>
                        <a:t>Frequency / Hashing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แทนด้วยความถี่ / hash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ค่าเยอะมาก, มีค่าใหม่ตลอด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ค่าชนกัน ตีความยาก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33333"/>
                          </a:solidFill>
                          <a:latin typeface="Tahoma"/>
                        </a:rPr>
                        <a:t>Cyclical (sin/cos)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แปลงค่าวนรอบเป็นวงกลม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เดือน, วันในสัปดาห์, ชั่วโมง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ใช้กับค่าวนรอบเท่านั้น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480560"/>
            <a:ext cx="11064240" cy="1508760"/>
          </a:xfrm>
          <a:prstGeom prst="roundRect">
            <a:avLst>
              <a:gd name="adj" fmla="val 8000"/>
            </a:avLst>
          </a:prstGeom>
          <a:solidFill>
            <a:srgbClr val="F7F9F9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400" b="1">
                <a:solidFill>
                  <a:srgbClr val="333333"/>
                </a:solidFill>
                <a:latin typeface="Tahoma"/>
              </a:rPr>
              <a:t>ถาม 2 ข้อก่อนเลือก: หมวดมีลำดับไหม (ordinal / nominal) และมีกี่ค่า (cardinality)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333333"/>
                </a:solidFill>
                <a:latin typeface="Tahoma"/>
              </a:rPr>
              <a:t>▸ โมเดลเชิงเส้น/KNN/SVM: nominal ใช้ One-Hot  ·  โมเดลต้นไม้: Ordinal ก็มักพอ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333333"/>
                </a:solidFill>
                <a:latin typeface="Tahoma"/>
              </a:rPr>
              <a:t>▸ โปรเจกต์นี้: categorical 9 ตัวมีค่าไม่มาก → One-Hot ทั้งหมด (handle_unknown="ignore"), เก็บ "unknown" เป็นหมวดหนึ่ง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9E73"/>
                </a:solidFill>
                <a:latin typeface="Tahoma"/>
              </a:rPr>
              <a:t>APPENDIX E —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Tahoma"/>
              </a:rPr>
              <a:t>Confusion Matrix → Precision / Recall / F1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1828800" cy="508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666666"/>
                </a:solidFill>
              </a:rPr>
              <a:t>19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66666"/>
                </a:solidFill>
              </a:rPr>
              <a:t>Bank Marketing — Term Deposit Prediction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737360" y="1783080"/>
            <a:ext cx="1554480" cy="1005840"/>
          </a:xfrm>
          <a:prstGeom prst="round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Tahoma"/>
              </a:rPr>
              <a:t>TN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Tahoma"/>
              </a:rPr>
              <a:t>ทายถูกว่าไม่ฝาก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783080"/>
            <a:ext cx="1554480" cy="1005840"/>
          </a:xfrm>
          <a:prstGeom prst="roundRect">
            <a:avLst/>
          </a:prstGeom>
          <a:solidFill>
            <a:srgbClr val="D5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Tahoma"/>
              </a:rPr>
              <a:t>FP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Tahoma"/>
              </a:rPr>
              <a:t>โทรเสียเปล่า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37360" y="2880360"/>
            <a:ext cx="1554480" cy="1005840"/>
          </a:xfrm>
          <a:prstGeom prst="roundRect">
            <a:avLst/>
          </a:prstGeom>
          <a:solidFill>
            <a:srgbClr val="D5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Tahoma"/>
              </a:rPr>
              <a:t>FN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Tahoma"/>
              </a:rPr>
              <a:t>พลาดลูกค้า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2880360"/>
            <a:ext cx="1554480" cy="1005840"/>
          </a:xfrm>
          <a:prstGeom prst="round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Tahoma"/>
              </a:rPr>
              <a:t>TP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Tahoma"/>
              </a:rPr>
              <a:t>ทายถูกว่าฝาก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14173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666666"/>
                </a:solidFill>
                <a:latin typeface="Tahoma"/>
              </a:rPr>
              <a:t>ทาย 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14173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666666"/>
                </a:solidFill>
                <a:latin typeface="Tahoma"/>
              </a:rPr>
              <a:t>ทาย yes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10312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666666"/>
                </a:solidFill>
                <a:latin typeface="Tahoma"/>
              </a:rPr>
              <a:t>จริง 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20040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666666"/>
                </a:solidFill>
                <a:latin typeface="Tahoma"/>
              </a:rPr>
              <a:t>จริง yes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1480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33333"/>
                </a:solidFill>
                <a:latin typeface="Tahoma"/>
              </a:rPr>
              <a:t>Test set @ threshold 0.5: FN ≈ 2,600 จาก 2,856 คนที่ฝากจริง → recall (yes) แค่ 8%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577840" y="1417320"/>
          <a:ext cx="6035039" cy="2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9344"/>
                <a:gridCol w="2112264"/>
                <a:gridCol w="2313431"/>
              </a:tblGrid>
              <a:tr h="40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Tahoma"/>
                        </a:rPr>
                        <a:t>ตัวชี้วัด</a:t>
                      </a:r>
                    </a:p>
                  </a:txBody>
                  <a:tcPr marT="45720" marB="45720" anchor="ctr"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Tahoma"/>
                        </a:rPr>
                        <a:t>ตอบคำถาม</a:t>
                      </a:r>
                    </a:p>
                  </a:txBody>
                  <a:tcPr marT="45720" marB="45720" anchor="ctr"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Tahoma"/>
                        </a:rPr>
                        <a:t>เน้นเมื่อ</a:t>
                      </a:r>
                    </a:p>
                  </a:txBody>
                  <a:tcPr marT="45720" marB="45720" anchor="ctr">
                    <a:solidFill>
                      <a:srgbClr val="009E73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Tahoma"/>
                        </a:rPr>
                        <a:t>Precision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Tahoma"/>
                        </a:rPr>
                        <a:t>ทาย yes ถูกกี่ %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Tahoma"/>
                        </a:rPr>
                        <a:t>FP แพง (spam, โทรแพง)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Tahoma"/>
                        </a:rPr>
                        <a:t>Recall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Tahoma"/>
                        </a:rPr>
                        <a:t>yes จริงจับได้กี่ %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Tahoma"/>
                        </a:rPr>
                        <a:t>FN แพง (มะเร็ง, fraud)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Tahoma"/>
                        </a:rPr>
                        <a:t>F1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Tahoma"/>
                        </a:rPr>
                        <a:t>สมดุล P กับ R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Tahoma"/>
                        </a:rPr>
                        <a:t>ไม่สมดุล + สำคัญพอกัน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Tahoma"/>
                        </a:rPr>
                        <a:t>Accuracy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Tahoma"/>
                        </a:rPr>
                        <a:t>ทายถูกรวมกี่ %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Tahoma"/>
                        </a:rPr>
                        <a:t>ข้อมูลสมดุลเท่านั้น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Tahoma"/>
                        </a:rPr>
                        <a:t>Macro avg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Tahoma"/>
                        </a:rPr>
                        <a:t>เฉลี่ยทุกคลาสเท่ากัน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Tahoma"/>
                        </a:rPr>
                        <a:t>สนใจคลาสส่วนน้อย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Tahoma"/>
                        </a:rPr>
                        <a:t>Weighted avg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Tahoma"/>
                        </a:rPr>
                        <a:t>เฉลี่ยถ่วงตาม support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Tahoma"/>
                        </a:rPr>
                        <a:t>ภาพรวมตามสัดส่วนจริง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48640" y="4846320"/>
            <a:ext cx="11064240" cy="1143000"/>
          </a:xfrm>
          <a:prstGeom prst="roundRect">
            <a:avLst>
              <a:gd name="adj" fmla="val 8000"/>
            </a:avLst>
          </a:prstGeom>
          <a:solidFill>
            <a:srgbClr val="F7F9F9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400" b="1">
                <a:solidFill>
                  <a:srgbClr val="333333"/>
                </a:solidFill>
                <a:latin typeface="Tahoma"/>
              </a:rPr>
              <a:t>ผลจริง: accuracy 0.69 ≈ ทาย "no" ทุกคน (0.68) — ตัวเลขนี้แทบไม่บอกอะไร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333333"/>
                </a:solidFill>
                <a:latin typeface="Tahoma"/>
              </a:rPr>
              <a:t>▸ macro F1 0.48 &lt; weighted F1 0.60 = คลาส yes ทำได้แย่ แต่ถูกคลาส no กลบไว้ → ดู recall/F1 ของ yes และ PR-AUC แทน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9E73"/>
                </a:solidFill>
                <a:latin typeface="Tahoma"/>
              </a:rPr>
              <a:t>APPENDIX F —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Tahoma"/>
              </a:rPr>
              <a:t>ROC, PR Curve หรือ Confusion Matrix: ใช้อะไรเมื่อไหร่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1828800" cy="508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666666"/>
                </a:solidFill>
              </a:rPr>
              <a:t>20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66666"/>
                </a:solidFill>
              </a:rPr>
              <a:t>Bank Marketing — Term Deposit Prediction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17320"/>
          <a:ext cx="11064238" cy="2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7368"/>
                <a:gridCol w="2589502"/>
                <a:gridCol w="4237368"/>
              </a:tblGrid>
              <a:tr h="4200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Tahoma"/>
                        </a:rPr>
                        <a:t>สถานการณ์ / ข้อมูล</a:t>
                      </a:r>
                    </a:p>
                  </a:txBody>
                  <a:tcPr marT="45720" marB="45720" anchor="ctr"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Tahoma"/>
                        </a:rPr>
                        <a:t>ใช้</a:t>
                      </a:r>
                    </a:p>
                  </a:txBody>
                  <a:tcPr marT="45720" marB="45720" anchor="ctr"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Tahoma"/>
                        </a:rPr>
                        <a:t>เพราะ</a:t>
                      </a:r>
                    </a:p>
                  </a:txBody>
                  <a:tcPr marT="45720" marB="45720" anchor="ctr">
                    <a:solidFill>
                      <a:srgbClr val="009E73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33333"/>
                          </a:solidFill>
                          <a:latin typeface="Tahoma"/>
                        </a:rPr>
                        <a:t>ยังไม่เลือก threshold, เทียบโมเดล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ROC-AUC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ดูทุก threshold, ไม่ขึ้นกับสเกลคะแนน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33333"/>
                          </a:solidFill>
                          <a:latin typeface="Tahoma"/>
                        </a:rPr>
                        <a:t>ไม่สมดุลมาก สนใจคลาสบวก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PR-AUC (คู่กับ ROC)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ROC ดูดีเกินจริงเพราะ TN เยอะ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33333"/>
                          </a:solidFill>
                          <a:latin typeface="Tahoma"/>
                        </a:rPr>
                        <a:t>สัดส่วนคลาสเปลี่ยนตามเวลา (6.7% → 31.6%)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ROC-AUC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ไม่ขึ้นกับ prevalence เทียบข้ามช่วงได้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33333"/>
                          </a:solidFill>
                          <a:latin typeface="Tahoma"/>
                        </a:rPr>
                        <a:t>เลือก threshold แล้ว จะ deploy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Confusion Matrix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เห็นจำนวนคนจริง แปลงเป็นต้นทุนได้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33333"/>
                          </a:solidFill>
                          <a:latin typeface="Tahoma"/>
                        </a:rPr>
                        <a:t>โทรได้จำกัด N สาย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Gains / Lift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ตอบตรง ๆ ว่า top N% จับได้กี่ %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114800"/>
            <a:ext cx="11064240" cy="1691640"/>
          </a:xfrm>
          <a:prstGeom prst="roundRect">
            <a:avLst>
              <a:gd name="adj" fmla="val 8000"/>
            </a:avLst>
          </a:prstGeom>
          <a:solidFill>
            <a:srgbClr val="F7F9F9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400" b="1">
                <a:solidFill>
                  <a:srgbClr val="333333"/>
                </a:solidFill>
                <a:latin typeface="Tahoma"/>
              </a:rPr>
              <a:t>ROC-AUC = P(คะแนนลูกค้าที่ฝากจริง &gt; คะแนนลูกค้าที่ไม่ฝาก)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333333"/>
                </a:solidFill>
                <a:latin typeface="Tahoma"/>
              </a:rPr>
              <a:t>▸ 0.5 = เดาสุ่ม · 1.0 = แยกสมบูรณ์ (ถ้าเจอ ให้สงสัย leakage ก่อน) · Gini = 2·AUC − 1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333333"/>
                </a:solidFill>
                <a:latin typeface="Tahoma"/>
              </a:rPr>
              <a:t>▸ ROC curve = TPR เทียบ FPR ทุก threshold — ยิ่งโค้งเข้ามุมซ้ายบนยิ่งดี; โมเดลนี้ AUC 0.68 = จัดอันดับดีกว่าสุ่ม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333333"/>
                </a:solidFill>
                <a:latin typeface="Tahoma"/>
              </a:rPr>
              <a:t>▸ ไม่วัด calibration และไม่คิดต้นทุน FP/FN → ต้องเลือก threshold ด้วยเหตุผลธุรกิจอีกชั้น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9E73"/>
                </a:solidFill>
                <a:latin typeface="Tahoma"/>
              </a:rPr>
              <a:t>สรุป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Tahoma"/>
              </a:rPr>
              <a:t>สรุปผลและหลักการสำคัญ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1828800" cy="508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0">
                <a:solidFill>
                  <a:srgbClr val="333333"/>
                </a:solidFill>
                <a:latin typeface="Tahoma"/>
              </a:rPr>
              <a:t>▸ ข้อมูลไม่สมดุล (~12% deposit=yes) → ใช้ class_weight="balanced" และดู ROC-AUC/PR-AUC/F1 ไม่ใช่ accuracy อย่างเดียว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333333"/>
                </a:solidFill>
                <a:latin typeface="Tahoma"/>
              </a:rPr>
              <a:t>▸ ตัด duration ออกเพราะรู้ค่าได้หลังโทรเท่านั้น (ยืนยัน leakage ใน Appendix B: +0.107 ROC-AUC ถ้าใส่กลับเข้าไป)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333333"/>
                </a:solidFill>
                <a:latin typeface="Tahoma"/>
              </a:rPr>
              <a:t>▸ แบ่ง train/test แบบ time-based ไม่สลับข้อมูล (random split ให้ตัวเลขดูดีเกินจริงถึง +0.124 ROC-AUC)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333333"/>
                </a:solidFill>
                <a:latin typeface="Tahoma"/>
              </a:rPr>
              <a:t>▸ เลือกโมเดลจาก TimeSeriesSplit (scheme สมจริงที่สุด) ไม่ใช่จาก shuffle CV ที่ overfit ต่อช่วงเวลา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333333"/>
                </a:solidFill>
                <a:latin typeface="Tahoma"/>
              </a:rPr>
              <a:t>▸ Threshold ที่ tune จาก validation ใช้ตรง ๆ กับอนาคตไม่ได้ เพราะสัดส่วนคลาสเปลี่ยนเร็ว (6.7% → 31.6%) ใช้ gains/lift + เหตุผลธุรกิจแทน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</a:rPr>
              <a:t>21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66666"/>
                </a:solidFill>
              </a:rPr>
              <a:t>Bank Marketing — Term Deposit Prediction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9E73"/>
                </a:solidFill>
                <a:latin typeface="Tahoma"/>
              </a:rPr>
              <a:t>ข้อจำกัด &amp; แนวทางต่อยอด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Tahoma"/>
              </a:rPr>
              <a:t>สิ่งที่ควรรู้ก่อนใช้งานจริง และก้าวต่อไป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1828800" cy="508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D55E00"/>
                </a:solidFill>
                <a:latin typeface="Tahoma"/>
              </a:rPr>
              <a:t>ข้อจำกัด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333333"/>
                </a:solidFill>
                <a:latin typeface="Tahoma"/>
              </a:rPr>
              <a:t>▸ Concept drift: สัดส่วนลูกค้าเปลี่ยนเร็วตามเวลา ต้อง retrain เป็นระยะ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333333"/>
                </a:solidFill>
                <a:latin typeface="Tahoma"/>
              </a:rPr>
              <a:t>▸ ROC-AUC ~0.68 ยังไม่สูงมาก — เหมาะใช้จัดลำดับความสำคัญ ไม่ใช่ตัดสิน yes/no เด็ดขาด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333333"/>
                </a:solidFill>
                <a:latin typeface="Tahoma"/>
              </a:rPr>
              <a:t>▸ Threshold คงที่ใช้กับอนาคตไม่ได้ ต้องอิงกราฟ gains/lift + บริบทธุรกิจทุกครั้ง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46304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09E73"/>
                </a:solidFill>
                <a:latin typeface="Tahoma"/>
              </a:rPr>
              <a:t>แนวทางต่อยอด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333333"/>
                </a:solidFill>
                <a:latin typeface="Tahoma"/>
              </a:rPr>
              <a:t>▸ Calibration (CalibratedClassifierCV) ให้ predict_proba สะท้อนความน่าจะเป็นจริง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333333"/>
                </a:solidFill>
                <a:latin typeface="Tahoma"/>
              </a:rPr>
              <a:t>▸ เพิ่มฟีเจอร์เชิงเวลา/เศรษฐกิจ เช่น อัตราดอกเบี้ยนโยบาย เพื่ออธิบาย drift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333333"/>
                </a:solidFill>
                <a:latin typeface="Tahoma"/>
              </a:rPr>
              <a:t>▸ Sliding-window retraining แทนการ train ครั้งเดียวด้วยข้อมูลทั้งหมด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333333"/>
                </a:solidFill>
                <a:latin typeface="Tahoma"/>
              </a:rPr>
              <a:t>▸ Cost-sensitive threshold ผูกกับต้นทุนโทร (c) และมูลค่าลูกค้า (v) จริง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</a:rPr>
              <a:t>22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66666"/>
                </a:solidFill>
              </a:rPr>
              <a:t>Bank Marketing — Term Deposit Prediction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Tahoma"/>
              </a:rPr>
              <a:t>ขอบคุณครับ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009E73"/>
                </a:solidFill>
                <a:latin typeface="Tahoma"/>
              </a:rPr>
              <a:t>Q&amp;A — Bank Marketing: Term Deposit Prediction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9E73"/>
                </a:solidFill>
                <a:latin typeface="Tahoma"/>
              </a:rPr>
              <a:t>7. กลยุทธ์ธุรกิจ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Tahoma"/>
              </a:rPr>
              <a:t>เลือกโทร Top กี่% ตามเคสธุรกิจ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1828800" cy="508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666666"/>
                </a:solidFill>
              </a:rPr>
              <a:t>12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66666"/>
                </a:solidFill>
              </a:rPr>
              <a:t>Bank Marketing — Term Deposit Prediction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48640" y="1325880"/>
          <a:ext cx="530352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38912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33333"/>
                </a:solidFill>
                <a:latin typeface="Tahoma"/>
              </a:rPr>
              <a:t>top 30% แรกฝาก ~50% คงที่ (สุ่มโทร = 31.6%) — หลังจากนั้นแต่ละสายที่โทรเพิ่มคุ้มน้อยลงเรื่อย 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325880"/>
            <a:ext cx="2651760" cy="1554480"/>
          </a:xfrm>
          <a:prstGeom prst="roundRect">
            <a:avLst>
              <a:gd name="adj" fmla="val 8000"/>
            </a:avLst>
          </a:prstGeom>
          <a:solidFill>
            <a:srgbClr val="F7F9F9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200" b="1">
                <a:solidFill>
                  <a:srgbClr val="666666"/>
                </a:solidFill>
                <a:latin typeface="Tahoma"/>
              </a:rPr>
              <a:t>1. โควต้าจำกัด ~2,700 สาย</a:t>
            </a:r>
          </a:p>
          <a:p>
            <a:pPr algn="l">
              <a:spcBef>
                <a:spcPts val="400"/>
              </a:spcBef>
            </a:pPr>
            <a:r>
              <a:rPr sz="2200" b="1">
                <a:solidFill>
                  <a:srgbClr val="009E73"/>
                </a:solidFill>
                <a:latin typeface="Tahoma"/>
              </a:rPr>
              <a:t>top 30%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Tahoma"/>
              </a:rPr>
              <a:t>ได้ลูกค้า 1,370 คน (48%)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325880"/>
            <a:ext cx="2651760" cy="1554480"/>
          </a:xfrm>
          <a:prstGeom prst="roundRect">
            <a:avLst>
              <a:gd name="adj" fmla="val 8000"/>
            </a:avLst>
          </a:prstGeom>
          <a:solidFill>
            <a:srgbClr val="F7F9F9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200" b="1">
                <a:solidFill>
                  <a:srgbClr val="666666"/>
                </a:solidFill>
                <a:latin typeface="Tahoma"/>
              </a:rPr>
              <a:t>2. โทรแพง (precision-first)</a:t>
            </a:r>
          </a:p>
          <a:p>
            <a:pPr algn="l">
              <a:spcBef>
                <a:spcPts val="400"/>
              </a:spcBef>
            </a:pPr>
            <a:r>
              <a:rPr sz="2200" b="1">
                <a:solidFill>
                  <a:srgbClr val="009E73"/>
                </a:solidFill>
                <a:latin typeface="Tahoma"/>
              </a:rPr>
              <a:t>top 10–30%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Tahoma"/>
              </a:rPr>
              <a:t>อัตราฝาก ~51% สูงสุด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3063240"/>
            <a:ext cx="2651760" cy="1554480"/>
          </a:xfrm>
          <a:prstGeom prst="roundRect">
            <a:avLst>
              <a:gd name="adj" fmla="val 8000"/>
            </a:avLst>
          </a:prstGeom>
          <a:solidFill>
            <a:srgbClr val="F7F9F9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200" b="1">
                <a:solidFill>
                  <a:srgbClr val="666666"/>
                </a:solidFill>
                <a:latin typeface="Tahoma"/>
              </a:rPr>
              <a:t>3. ห้ามพลาด ≥ 80%</a:t>
            </a:r>
          </a:p>
          <a:p>
            <a:pPr algn="l">
              <a:spcBef>
                <a:spcPts val="400"/>
              </a:spcBef>
            </a:pPr>
            <a:r>
              <a:rPr sz="2200" b="1">
                <a:solidFill>
                  <a:srgbClr val="009E73"/>
                </a:solidFill>
                <a:latin typeface="Tahoma"/>
              </a:rPr>
              <a:t>~top 65%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Tahoma"/>
              </a:rPr>
              <a:t>SMS / auto-dialer ต้นทุนต่ำ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3063240"/>
            <a:ext cx="2651760" cy="1554480"/>
          </a:xfrm>
          <a:prstGeom prst="roundRect">
            <a:avLst>
              <a:gd name="adj" fmla="val 8000"/>
            </a:avLst>
          </a:prstGeom>
          <a:solidFill>
            <a:srgbClr val="F7F9F9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200" b="1">
                <a:solidFill>
                  <a:srgbClr val="666666"/>
                </a:solidFill>
                <a:latin typeface="Tahoma"/>
              </a:rPr>
              <a:t>4. กำไรสูงสุด</a:t>
            </a:r>
          </a:p>
          <a:p>
            <a:pPr algn="l">
              <a:spcBef>
                <a:spcPts val="400"/>
              </a:spcBef>
            </a:pPr>
            <a:r>
              <a:rPr sz="2200" b="1">
                <a:solidFill>
                  <a:srgbClr val="009E73"/>
                </a:solidFill>
                <a:latin typeface="Tahoma"/>
              </a:rPr>
              <a:t>โทรถ้า % &gt; c/v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Tahoma"/>
              </a:rPr>
              <a:t>c/v 0.25 → top 52%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Tahoma"/>
              </a:rPr>
              <a:t>c/v 0.40 → top 29%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029200"/>
            <a:ext cx="11064240" cy="1188720"/>
          </a:xfrm>
          <a:prstGeom prst="roundRect">
            <a:avLst>
              <a:gd name="adj" fmla="val 8000"/>
            </a:avLst>
          </a:prstGeom>
          <a:solidFill>
            <a:srgbClr val="F7F9F9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400" b="1">
                <a:solidFill>
                  <a:srgbClr val="333333"/>
                </a:solidFill>
                <a:latin typeface="Tahoma"/>
              </a:rPr>
              <a:t>กฎง่าย ๆ: โทรต่อ ตราบใดที่อัตราฝากของกลุ่มถัดไป &gt; ต้นทุนต่อสาย ÷ มูลค่าลูกค้า (c/v)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333333"/>
                </a:solidFill>
                <a:latin typeface="Tahoma"/>
              </a:rPr>
              <a:t>▸ c/v &lt; 0.13 → โทรทุกคนยังคุ้ม  ·  c/v 0.2–0.4 → ตัดเหลือ top 30–55% (โมเดลสร้างมูลค่าสูงสุด)  ·  c/v &gt; 0.5 → ไม่คุ้มแม้กลุ่มบนสุด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